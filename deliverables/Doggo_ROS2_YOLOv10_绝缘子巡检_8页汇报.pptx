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fect_20260721_182434_006.jpg"/>
          <p:cNvPicPr>
            <a:picLocks noChangeAspect="1"/>
          </p:cNvPicPr>
          <p:nvPr/>
        </p:nvPicPr>
        <p:blipFill>
          <a:blip r:embed="rId2"/>
          <a:srcRect l="20435" r="20435"/>
          <a:stretch>
            <a:fillRect/>
          </a:stretch>
        </p:blipFill>
        <p:spPr>
          <a:xfrm>
            <a:off x="6784848" y="0"/>
            <a:ext cx="540684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65392" y="0"/>
            <a:ext cx="310896" cy="6858000"/>
          </a:xfrm>
          <a:prstGeom prst="rect">
            <a:avLst/>
          </a:prstGeom>
          <a:solidFill>
            <a:srgbClr val="11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28232" y="0"/>
            <a:ext cx="137160" cy="6858000"/>
          </a:xfrm>
          <a:prstGeom prst="rect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438912"/>
            <a:ext cx="3840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1BFD0"/>
                </a:solidFill>
                <a:latin typeface="Consolas"/>
              </a:rPr>
              <a:t>POWER · AI ·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115568"/>
            <a:ext cx="5394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>
                <a:solidFill>
                  <a:srgbClr val="FFFFFF"/>
                </a:solidFill>
                <a:latin typeface="Microsoft YaHei"/>
              </a:rPr>
              <a:t>面向新型电力系统的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581912"/>
            <a:ext cx="55778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绝缘子缺陷智能巡检系统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1448"/>
            <a:ext cx="5212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A9C7DE"/>
                </a:solidFill>
                <a:latin typeface="Microsoft YaHei"/>
              </a:rPr>
              <a:t>ROS 2 + YOLOv10s · 仿真到真实场景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044952"/>
            <a:ext cx="4773168" cy="0"/>
          </a:xfrm>
          <a:prstGeom prst="line">
            <a:avLst/>
          </a:prstGeom>
          <a:ln w="15240">
            <a:solidFill>
              <a:srgbClr val="315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310128"/>
            <a:ext cx="1170432" cy="310896"/>
          </a:xfrm>
          <a:prstGeom prst="roundRect">
            <a:avLst>
              <a:gd name="adj" fmla="val 8000"/>
            </a:avLst>
          </a:prstGeom>
          <a:solidFill>
            <a:srgbClr val="0D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3337560"/>
            <a:ext cx="102412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能源电力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47672" y="3310128"/>
            <a:ext cx="1170432" cy="310896"/>
          </a:xfrm>
          <a:prstGeom prst="roundRect">
            <a:avLst>
              <a:gd name="adj" fmla="val 8000"/>
            </a:avLst>
          </a:prstGeom>
          <a:solidFill>
            <a:srgbClr val="0D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20824" y="3337560"/>
            <a:ext cx="102412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1BFD0"/>
                </a:solidFill>
                <a:latin typeface="Microsoft YaHei"/>
              </a:rPr>
              <a:t>智能感知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5264" y="3310128"/>
            <a:ext cx="1170432" cy="310896"/>
          </a:xfrm>
          <a:prstGeom prst="roundRect">
            <a:avLst>
              <a:gd name="adj" fmla="val 8000"/>
            </a:avLst>
          </a:prstGeom>
          <a:solidFill>
            <a:srgbClr val="0D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6" y="3337560"/>
            <a:ext cx="1024128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工程实践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53035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C8D9E7"/>
                </a:solidFill>
                <a:latin typeface="Microsoft YaHei"/>
              </a:rPr>
              <a:t>8 页项目成果汇报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C8D9E7"/>
                </a:solidFill>
                <a:latin typeface="Microsoft YaHei"/>
              </a:rPr>
              <a:t>可训练 · 可运行 · 可追溯 · 能说明边界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72200"/>
            <a:ext cx="3017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997B0"/>
                </a:solidFill>
                <a:latin typeface="Consolas"/>
              </a:rPr>
              <a:t>2026 · Doggo Project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3488" y="6080760"/>
            <a:ext cx="4297680" cy="438912"/>
          </a:xfrm>
          <a:prstGeom prst="rect">
            <a:avLst/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6172200"/>
            <a:ext cx="397763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真实推理证据｜missing_disc 0.91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108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Consolas"/>
              </a:rPr>
              <a:t>POWER-SYSTEM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66928"/>
            <a:ext cx="97840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071B33"/>
                </a:solidFill>
                <a:latin typeface="Microsoft YaHei"/>
              </a:rPr>
              <a:t>从线路安全痛点到工程目标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66928"/>
            <a:ext cx="5669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07489"/>
                </a:solidFill>
                <a:latin typeface="Consolas"/>
              </a:rPr>
              <a:t>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738360" y="182880"/>
            <a:ext cx="640080" cy="10972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378440" y="182880"/>
            <a:ext cx="685800" cy="20116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064240" y="201168"/>
            <a:ext cx="621792" cy="182880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688068" y="24231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8148" y="132588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13948" y="333756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35740" y="15087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298448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07489"/>
                </a:solidFill>
                <a:latin typeface="Microsoft YaHei"/>
              </a:rPr>
              <a:t>电力高校特色：让电气设备机理、人工智能与机器人系统在同一个工程闭环中相遇。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1847088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1847088"/>
            <a:ext cx="64008" cy="960120"/>
          </a:xfrm>
          <a:prstGeom prst="roundRect">
            <a:avLst>
              <a:gd name="adj" fmla="val 8000"/>
            </a:avLst>
          </a:prstGeom>
          <a:solidFill>
            <a:srgbClr val="E95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011680"/>
            <a:ext cx="3474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E9574F"/>
                </a:solidFill>
                <a:latin typeface="Consola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1965960"/>
            <a:ext cx="3794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71B33"/>
                </a:solidFill>
                <a:latin typeface="Microsoft YaHei"/>
              </a:rPr>
              <a:t>高风险、长距离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414016"/>
            <a:ext cx="4169663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07489"/>
                </a:solidFill>
                <a:latin typeface="Microsoft YaHei"/>
              </a:rPr>
              <a:t>高压线路人工复核成本高，山地与跨区通道覆盖困难。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2990088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0352" y="2990088"/>
            <a:ext cx="64008" cy="960120"/>
          </a:xfrm>
          <a:prstGeom prst="roundRect">
            <a:avLst>
              <a:gd name="adj" fmla="val 8000"/>
            </a:avLst>
          </a:prstGeom>
          <a:solidFill>
            <a:srgbClr val="F3A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3154680"/>
            <a:ext cx="3474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3AA35"/>
                </a:solidFill>
                <a:latin typeface="Consola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3108960"/>
            <a:ext cx="3794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71B33"/>
                </a:solidFill>
                <a:latin typeface="Microsoft YaHei"/>
              </a:rPr>
              <a:t>小目标、强背景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557016"/>
            <a:ext cx="4169663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07489"/>
                </a:solidFill>
                <a:latin typeface="Microsoft YaHei"/>
              </a:rPr>
              <a:t>缺片区域远小于绝缘子串，杆塔、导线和天空容易形成干扰。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4133087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0352" y="4133087"/>
            <a:ext cx="64008" cy="960120"/>
          </a:xfrm>
          <a:prstGeom prst="roundRect">
            <a:avLst>
              <a:gd name="adj" fmla="val 8000"/>
            </a:avLst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7679"/>
            <a:ext cx="3474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Consola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19" y="4251959"/>
            <a:ext cx="3794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71B33"/>
                </a:solidFill>
                <a:latin typeface="Microsoft YaHei"/>
              </a:rPr>
              <a:t>故障少、数据贵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00016"/>
            <a:ext cx="4169663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07489"/>
                </a:solidFill>
                <a:latin typeface="Microsoft YaHei"/>
              </a:rPr>
              <a:t>真实缺陷样本稀缺，跨线路、相机与天气的域偏移明显。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2120" y="1847088"/>
            <a:ext cx="6126480" cy="3246120"/>
          </a:xfrm>
          <a:prstGeom prst="roundRect">
            <a:avLst>
              <a:gd name="adj" fmla="val 8000"/>
            </a:avLst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9592" y="21031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1BFD0"/>
                </a:solidFill>
                <a:latin typeface="Consolas"/>
              </a:rPr>
              <a:t>工程目标</a:t>
            </a:r>
          </a:p>
        </p:txBody>
      </p:sp>
      <p:sp>
        <p:nvSpPr>
          <p:cNvPr id="33" name="Oval 32"/>
          <p:cNvSpPr/>
          <p:nvPr/>
        </p:nvSpPr>
        <p:spPr>
          <a:xfrm>
            <a:off x="5879592" y="2670048"/>
            <a:ext cx="384048" cy="384048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9592" y="2724912"/>
            <a:ext cx="384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660904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看得见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2660904"/>
            <a:ext cx="3794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FD3E3"/>
                </a:solidFill>
                <a:latin typeface="Microsoft YaHei"/>
              </a:rPr>
              <a:t>定位真实输电背景中的绝缘子串</a:t>
            </a:r>
          </a:p>
        </p:txBody>
      </p:sp>
      <p:sp>
        <p:nvSpPr>
          <p:cNvPr id="37" name="Oval 36"/>
          <p:cNvSpPr/>
          <p:nvPr/>
        </p:nvSpPr>
        <p:spPr>
          <a:xfrm>
            <a:off x="5879592" y="3328415"/>
            <a:ext cx="384048" cy="384048"/>
          </a:xfrm>
          <a:prstGeom prst="ellipse">
            <a:avLst/>
          </a:prstGeom>
          <a:solidFill>
            <a:srgbClr val="11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79592" y="3383279"/>
            <a:ext cx="384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319272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看得准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6368" y="3319272"/>
            <a:ext cx="3794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FD3E3"/>
                </a:solidFill>
                <a:latin typeface="Microsoft YaHei"/>
              </a:rPr>
              <a:t>识别 missing_disc 缺片并给出置信度</a:t>
            </a:r>
          </a:p>
        </p:txBody>
      </p:sp>
      <p:sp>
        <p:nvSpPr>
          <p:cNvPr id="41" name="Oval 40"/>
          <p:cNvSpPr/>
          <p:nvPr/>
        </p:nvSpPr>
        <p:spPr>
          <a:xfrm>
            <a:off x="5879592" y="3986783"/>
            <a:ext cx="384048" cy="384048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9592" y="4041647"/>
            <a:ext cx="384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977639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交得出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6368" y="3977639"/>
            <a:ext cx="3794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FD3E3"/>
                </a:solidFill>
                <a:latin typeface="Microsoft YaHei"/>
              </a:rPr>
              <a:t>ROS 2 告警、证据与可复现权重同步交付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0352" y="5394960"/>
            <a:ext cx="11128248" cy="704088"/>
          </a:xfrm>
          <a:prstGeom prst="roundRect">
            <a:avLst>
              <a:gd name="adj" fmla="val 8000"/>
            </a:avLst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77840"/>
            <a:ext cx="1005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B78E3"/>
                </a:solidFill>
                <a:latin typeface="Microsoft YaHei"/>
              </a:rPr>
              <a:t>项目定位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3080" y="5559552"/>
            <a:ext cx="9464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071B33"/>
                </a:solidFill>
                <a:latin typeface="Microsoft YaHei"/>
              </a:rPr>
              <a:t>面向课程实践与算法原型的可运行巡检系统，而非未经现场验收的安全决策系统。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07489"/>
                </a:solidFill>
                <a:latin typeface="Microsoft YaHei"/>
              </a:rPr>
              <a:t>Doggo · ROS 2 + YOLOv10 输电巡检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07489"/>
                </a:solidFill>
                <a:latin typeface="Consolas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108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Consolas"/>
              </a:rPr>
              <a:t>FULL 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66928"/>
            <a:ext cx="97840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071B33"/>
                </a:solidFill>
                <a:latin typeface="Microsoft YaHei"/>
              </a:rPr>
              <a:t>完整工具栈与数据闭环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66928"/>
            <a:ext cx="5669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07489"/>
                </a:solidFill>
                <a:latin typeface="Consolas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738360" y="182880"/>
            <a:ext cx="640080" cy="10972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378440" y="182880"/>
            <a:ext cx="685800" cy="20116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064240" y="201168"/>
            <a:ext cx="621792" cy="182880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688068" y="24231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8148" y="132588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13948" y="333756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35740" y="15087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298448"/>
            <a:ext cx="8686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07489"/>
                </a:solidFill>
                <a:latin typeface="Microsoft YaHei"/>
              </a:rPr>
              <a:t>训练链路与运行链路解耦，但共享同一 ROS 2 感知接口。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1938528"/>
            <a:ext cx="199339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1938528"/>
            <a:ext cx="1993392" cy="118872"/>
          </a:xfrm>
          <a:prstGeom prst="roundRect">
            <a:avLst>
              <a:gd name="adj" fmla="val 8000"/>
            </a:avLst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212848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Consola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532888"/>
            <a:ext cx="16642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71B33"/>
                </a:solidFill>
                <a:latin typeface="Microsoft YaHei"/>
              </a:rPr>
              <a:t>Gazebo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090672"/>
            <a:ext cx="1664208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>
                <a:solidFill>
                  <a:srgbClr val="607489"/>
                </a:solidFill>
                <a:latin typeface="Microsoft YaHei"/>
              </a:rPr>
              <a:t>自动采图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>
                <a:solidFill>
                  <a:srgbClr val="607489"/>
                </a:solidFill>
                <a:latin typeface="Microsoft YaHei"/>
              </a:rPr>
              <a:t>3D→2D 标注</a:t>
            </a:r>
          </a:p>
        </p:txBody>
      </p:sp>
      <p:sp>
        <p:nvSpPr>
          <p:cNvPr id="21" name="Chevron 20"/>
          <p:cNvSpPr/>
          <p:nvPr/>
        </p:nvSpPr>
        <p:spPr>
          <a:xfrm>
            <a:off x="2564892" y="2788920"/>
            <a:ext cx="164592" cy="411480"/>
          </a:xfrm>
          <a:prstGeom prst="chevron">
            <a:avLst/>
          </a:prstGeom>
          <a:solidFill>
            <a:srgbClr val="9FC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0" y="1938528"/>
            <a:ext cx="199339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43200" y="1938528"/>
            <a:ext cx="1993392" cy="118872"/>
          </a:xfrm>
          <a:prstGeom prst="roundRect">
            <a:avLst>
              <a:gd name="adj" fmla="val 8000"/>
            </a:avLst>
          </a:prstGeom>
          <a:solidFill>
            <a:srgbClr val="11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7792" y="2212848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1BFD0"/>
                </a:solidFill>
                <a:latin typeface="Consola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2532888"/>
            <a:ext cx="16642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71B33"/>
                </a:solidFill>
                <a:latin typeface="Microsoft YaHei"/>
              </a:rPr>
              <a:t>YOLOv10s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792" y="3090672"/>
            <a:ext cx="1664208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>
                <a:solidFill>
                  <a:srgbClr val="607489"/>
                </a:solidFill>
                <a:latin typeface="Microsoft YaHei"/>
              </a:rPr>
              <a:t>仿真预训练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>
                <a:solidFill>
                  <a:srgbClr val="607489"/>
                </a:solidFill>
                <a:latin typeface="Microsoft YaHei"/>
              </a:rPr>
              <a:t>500 张 / 30 epoch</a:t>
            </a:r>
          </a:p>
        </p:txBody>
      </p:sp>
      <p:sp>
        <p:nvSpPr>
          <p:cNvPr id="27" name="Chevron 26"/>
          <p:cNvSpPr/>
          <p:nvPr/>
        </p:nvSpPr>
        <p:spPr>
          <a:xfrm>
            <a:off x="4777740" y="2788920"/>
            <a:ext cx="164592" cy="411480"/>
          </a:xfrm>
          <a:prstGeom prst="chevron">
            <a:avLst/>
          </a:prstGeom>
          <a:solidFill>
            <a:srgbClr val="9FC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56048" y="1938528"/>
            <a:ext cx="199339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56048" y="1938528"/>
            <a:ext cx="1993392" cy="118872"/>
          </a:xfrm>
          <a:prstGeom prst="roundRect">
            <a:avLst>
              <a:gd name="adj" fmla="val 8000"/>
            </a:avLst>
          </a:prstGeom>
          <a:solidFill>
            <a:srgbClr val="F3A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2212848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3AA35"/>
                </a:solidFill>
                <a:latin typeface="Consola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532888"/>
            <a:ext cx="16642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71B33"/>
                </a:solidFill>
                <a:latin typeface="Microsoft YaHei"/>
              </a:rPr>
              <a:t>CPLID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3090672"/>
            <a:ext cx="1664208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>
                <a:solidFill>
                  <a:srgbClr val="607489"/>
                </a:solidFill>
                <a:latin typeface="Microsoft YaHei"/>
              </a:rPr>
              <a:t>真实背景迁移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>
                <a:solidFill>
                  <a:srgbClr val="607489"/>
                </a:solidFill>
                <a:latin typeface="Microsoft YaHei"/>
              </a:rPr>
              <a:t>678 train / 170 val</a:t>
            </a:r>
          </a:p>
        </p:txBody>
      </p:sp>
      <p:sp>
        <p:nvSpPr>
          <p:cNvPr id="33" name="Chevron 32"/>
          <p:cNvSpPr/>
          <p:nvPr/>
        </p:nvSpPr>
        <p:spPr>
          <a:xfrm>
            <a:off x="6990588" y="2788920"/>
            <a:ext cx="164592" cy="411480"/>
          </a:xfrm>
          <a:prstGeom prst="chevron">
            <a:avLst/>
          </a:prstGeom>
          <a:solidFill>
            <a:srgbClr val="9FC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68896" y="1938528"/>
            <a:ext cx="199339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68896" y="1938528"/>
            <a:ext cx="1993392" cy="118872"/>
          </a:xfrm>
          <a:prstGeom prst="roundRect">
            <a:avLst>
              <a:gd name="adj" fmla="val 8000"/>
            </a:avLst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33488" y="2212848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Consola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488" y="2532888"/>
            <a:ext cx="16642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71B33"/>
                </a:solidFill>
                <a:latin typeface="Microsoft YaHei"/>
              </a:rPr>
              <a:t>ROS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3090672"/>
            <a:ext cx="1664208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>
                <a:solidFill>
                  <a:srgbClr val="607489"/>
                </a:solidFill>
                <a:latin typeface="Microsoft YaHei"/>
              </a:rPr>
              <a:t>相机 / 图片 / 视频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>
                <a:solidFill>
                  <a:srgbClr val="607489"/>
                </a:solidFill>
                <a:latin typeface="Microsoft YaHei"/>
              </a:rPr>
              <a:t>统一推理节点</a:t>
            </a:r>
          </a:p>
        </p:txBody>
      </p:sp>
      <p:sp>
        <p:nvSpPr>
          <p:cNvPr id="39" name="Chevron 38"/>
          <p:cNvSpPr/>
          <p:nvPr/>
        </p:nvSpPr>
        <p:spPr>
          <a:xfrm>
            <a:off x="9203436" y="2788920"/>
            <a:ext cx="164592" cy="411480"/>
          </a:xfrm>
          <a:prstGeom prst="chevron">
            <a:avLst/>
          </a:prstGeom>
          <a:solidFill>
            <a:srgbClr val="9FC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81744" y="1938528"/>
            <a:ext cx="199339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381744" y="1938528"/>
            <a:ext cx="1993392" cy="118872"/>
          </a:xfrm>
          <a:prstGeom prst="roundRect">
            <a:avLst>
              <a:gd name="adj" fmla="val 8000"/>
            </a:avLst>
          </a:prstGeom>
          <a:solidFill>
            <a:srgbClr val="28A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46336" y="2212848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8A87A"/>
                </a:solidFill>
                <a:latin typeface="Consolas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46336" y="2532888"/>
            <a:ext cx="16642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71B33"/>
                </a:solidFill>
                <a:latin typeface="Microsoft YaHei"/>
              </a:rPr>
              <a:t>巡检闭环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3090672"/>
            <a:ext cx="1664208" cy="6217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>
                <a:solidFill>
                  <a:srgbClr val="607489"/>
                </a:solidFill>
                <a:latin typeface="Microsoft YaHei"/>
              </a:rPr>
              <a:t>告警 + JPG + JSON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>
                <a:solidFill>
                  <a:srgbClr val="607489"/>
                </a:solidFill>
                <a:latin typeface="Microsoft YaHei"/>
              </a:rPr>
              <a:t>结果可复核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498848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71B33"/>
                </a:solidFill>
                <a:latin typeface="Microsoft YaHei"/>
              </a:rPr>
              <a:t>与业界前沿工程范式一致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956048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084064"/>
            <a:ext cx="22677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B78E3"/>
                </a:solidFill>
                <a:latin typeface="Consolas"/>
              </a:rPr>
              <a:t>SYNTHETIC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376672"/>
            <a:ext cx="22677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Microsoft YaHei"/>
              </a:rPr>
              <a:t>仿真扩充稀缺样本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37560" y="4956048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E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5084064"/>
            <a:ext cx="22677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28A87A"/>
                </a:solidFill>
                <a:latin typeface="Consolas"/>
              </a:rPr>
              <a:t>SIM-TO-REAL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5376672"/>
            <a:ext cx="22677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Microsoft YaHei"/>
              </a:rPr>
              <a:t>跨域迁移而非直接套用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79" y="4956048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5084064"/>
            <a:ext cx="22677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B78E3"/>
                </a:solidFill>
                <a:latin typeface="Consolas"/>
              </a:rPr>
              <a:t>EDGE-AWARE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5376672"/>
            <a:ext cx="22677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Microsoft YaHei"/>
              </a:rPr>
              <a:t>轻量模型与低延迟推理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15399" y="4956048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E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59" y="5084064"/>
            <a:ext cx="22677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28A87A"/>
                </a:solidFill>
                <a:latin typeface="Consolas"/>
              </a:rPr>
              <a:t>MLOPS TRACE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59" y="5376672"/>
            <a:ext cx="22677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Microsoft YaHei"/>
              </a:rPr>
              <a:t>权重、指标、校验值留痕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07489"/>
                </a:solidFill>
                <a:latin typeface="Microsoft YaHei"/>
              </a:rPr>
              <a:t>Doggo · ROS 2 + YOLOv10 输电巡检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07489"/>
                </a:solidFill>
                <a:latin typeface="Consolas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108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Consolas"/>
              </a:rPr>
              <a:t>DIGITAL POWER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66928"/>
            <a:ext cx="97840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071B33"/>
                </a:solidFill>
                <a:latin typeface="Microsoft YaHei"/>
              </a:rPr>
              <a:t>仿真数据引擎：把电力设备先带进数字世界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66928"/>
            <a:ext cx="5669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07489"/>
                </a:solidFill>
                <a:latin typeface="Consolas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738360" y="182880"/>
            <a:ext cx="640080" cy="10972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378440" y="182880"/>
            <a:ext cx="685800" cy="20116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064240" y="201168"/>
            <a:ext cx="621792" cy="182880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688068" y="24231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8148" y="132588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13948" y="333756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35740" y="15087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19" y="1435608"/>
            <a:ext cx="5129783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im_000000.jpg"/>
          <p:cNvPicPr>
            <a:picLocks noChangeAspect="1"/>
          </p:cNvPicPr>
          <p:nvPr/>
        </p:nvPicPr>
        <p:blipFill>
          <a:blip r:embed="rId2"/>
          <a:srcRect l="2374" r="2374"/>
          <a:stretch>
            <a:fillRect/>
          </a:stretch>
        </p:blipFill>
        <p:spPr>
          <a:xfrm>
            <a:off x="530352" y="1463040"/>
            <a:ext cx="5074920" cy="3995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3" y="5522976"/>
            <a:ext cx="49286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07489"/>
                </a:solidFill>
                <a:latin typeface="Microsoft YaHei"/>
              </a:rPr>
              <a:t>实际 Gazebo 训练帧｜绝缘子姿态、距离与视角可自动变化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1463040"/>
            <a:ext cx="5742432" cy="1298448"/>
          </a:xfrm>
          <a:prstGeom prst="roundRect">
            <a:avLst>
              <a:gd name="adj" fmla="val 8000"/>
            </a:avLst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700784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1BFD0"/>
                </a:solidFill>
                <a:latin typeface="Consolas"/>
              </a:rPr>
              <a:t>自动标注原理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048256"/>
            <a:ext cx="4937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3D 包围盒  →  相机内外参  →  2D YOLO 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2423160"/>
            <a:ext cx="48920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CD1E1"/>
                </a:solidFill>
                <a:latin typeface="Microsoft YaHei"/>
              </a:rPr>
              <a:t>避免逐帧人工标注，并保证仿真标签与模型位姿一致。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25312" y="3017520"/>
            <a:ext cx="5742432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136391"/>
            <a:ext cx="9326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B78E3"/>
                </a:solidFill>
                <a:latin typeface="Microsoft YaHei"/>
              </a:rPr>
              <a:t>几何域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3136391"/>
            <a:ext cx="40599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Microsoft YaHei"/>
              </a:rPr>
              <a:t>距离、平移、俯仰/横滚/偏航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25312" y="3712463"/>
            <a:ext cx="5742432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831335"/>
            <a:ext cx="9326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B78E3"/>
                </a:solidFill>
                <a:latin typeface="Microsoft YaHei"/>
              </a:rPr>
              <a:t>成像域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3831335"/>
            <a:ext cx="40599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Microsoft YaHei"/>
              </a:rPr>
              <a:t>亮度、色彩、模糊、噪声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25312" y="4407408"/>
            <a:ext cx="5742432" cy="5394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526280"/>
            <a:ext cx="9326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B78E3"/>
                </a:solidFill>
                <a:latin typeface="Microsoft YaHei"/>
              </a:rPr>
              <a:t>样本域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4526280"/>
            <a:ext cx="40599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Microsoft YaHei"/>
              </a:rPr>
              <a:t>正样本 + 少量负样本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25312" y="5239512"/>
            <a:ext cx="1682496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321808"/>
            <a:ext cx="14630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B78E3"/>
                </a:solidFill>
                <a:latin typeface="Consolas"/>
              </a:rPr>
              <a:t>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760720"/>
            <a:ext cx="1463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07489"/>
                </a:solidFill>
                <a:latin typeface="Microsoft YaHei"/>
              </a:rPr>
              <a:t>仿真训练图片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54112" y="5239512"/>
            <a:ext cx="1682496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5321808"/>
            <a:ext cx="14630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1BFD0"/>
                </a:solidFill>
                <a:latin typeface="Consolas"/>
              </a:rPr>
              <a:t>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760720"/>
            <a:ext cx="1463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07489"/>
                </a:solidFill>
                <a:latin typeface="Microsoft YaHei"/>
              </a:rPr>
              <a:t>训练 epoch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82912" y="52395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5321808"/>
            <a:ext cx="186537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28A87A"/>
                </a:solidFill>
                <a:latin typeface="Consolas"/>
              </a:rPr>
              <a:t>0.976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5760720"/>
            <a:ext cx="186537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07489"/>
                </a:solidFill>
                <a:latin typeface="Microsoft YaHei"/>
              </a:rPr>
              <a:t>仿真 mAP50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07489"/>
                </a:solidFill>
                <a:latin typeface="Microsoft YaHei"/>
              </a:rPr>
              <a:t>Doggo · ROS 2 + YOLOv10 输电巡检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07489"/>
                </a:solidFill>
                <a:latin typeface="Consolas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108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Consolas"/>
              </a:rPr>
              <a:t>MODEL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66928"/>
            <a:ext cx="97840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071B33"/>
                </a:solidFill>
                <a:latin typeface="Microsoft YaHei"/>
              </a:rPr>
              <a:t>模型设计：面向小缺片的双域优化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66928"/>
            <a:ext cx="5669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07489"/>
                </a:solidFill>
                <a:latin typeface="Consolas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738360" y="182880"/>
            <a:ext cx="640080" cy="10972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378440" y="182880"/>
            <a:ext cx="685800" cy="20116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064240" y="201168"/>
            <a:ext cx="621792" cy="182880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688068" y="24231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8148" y="132588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13948" y="333756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35740" y="15087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298448"/>
            <a:ext cx="9144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07489"/>
                </a:solidFill>
                <a:latin typeface="Microsoft YaHei"/>
              </a:rPr>
              <a:t>不追求一个权重包打天下，而是保留不同视觉域的最佳模型。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1856231"/>
            <a:ext cx="2395728" cy="1389888"/>
          </a:xfrm>
          <a:prstGeom prst="roundRect">
            <a:avLst>
              <a:gd name="adj" fmla="val 8000"/>
            </a:avLst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103120"/>
            <a:ext cx="188366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B78E3"/>
                </a:solidFill>
                <a:latin typeface="Consolas"/>
              </a:rPr>
              <a:t>YOLOv10s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633472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607489"/>
                </a:solidFill>
                <a:latin typeface="Microsoft YaHei"/>
              </a:rPr>
              <a:t>轻量、面向端到端与低延迟</a:t>
            </a:r>
          </a:p>
        </p:txBody>
      </p:sp>
      <p:sp>
        <p:nvSpPr>
          <p:cNvPr id="19" name="Chevron 18"/>
          <p:cNvSpPr/>
          <p:nvPr/>
        </p:nvSpPr>
        <p:spPr>
          <a:xfrm>
            <a:off x="3182112" y="2276856"/>
            <a:ext cx="548640" cy="530352"/>
          </a:xfrm>
          <a:prstGeom prst="chevron">
            <a:avLst/>
          </a:prstGeom>
          <a:solidFill>
            <a:srgbClr val="11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68496" y="1600200"/>
            <a:ext cx="3310128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7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2816" y="1847088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B78E3"/>
                </a:solidFill>
                <a:latin typeface="Microsoft YaHei"/>
              </a:rPr>
              <a:t>仿真域权重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2267712"/>
            <a:ext cx="27066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71B33"/>
                </a:solidFill>
                <a:latin typeface="Consolas"/>
              </a:rPr>
              <a:t>insulator_yolov10s.pt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2816" y="2615184"/>
            <a:ext cx="26517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07489"/>
                </a:solidFill>
                <a:latin typeface="Microsoft YaHei"/>
              </a:rPr>
              <a:t>1 类 · 640 px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68496" y="3246120"/>
            <a:ext cx="3310128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8A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3493008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8A87A"/>
                </a:solidFill>
                <a:latin typeface="Microsoft YaHei"/>
              </a:rPr>
              <a:t>真实域缺陷权重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816" y="3913632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71B33"/>
                </a:solidFill>
                <a:latin typeface="Consolas"/>
              </a:rPr>
              <a:t>insulator_defect_yolov10s.pt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2816" y="4261104"/>
            <a:ext cx="2697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07489"/>
                </a:solidFill>
                <a:latin typeface="Microsoft YaHei"/>
              </a:rPr>
              <a:t>2 类 · 768 px · 缺片小目标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23560" y="2990088"/>
            <a:ext cx="0" cy="256032"/>
          </a:xfrm>
          <a:prstGeom prst="line">
            <a:avLst/>
          </a:prstGeom>
          <a:ln w="30480">
            <a:solidFill>
              <a:srgbClr val="11B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06440" y="3008376"/>
            <a:ext cx="1188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1BFD0"/>
                </a:solidFill>
                <a:latin typeface="Consolas"/>
              </a:rPr>
              <a:t>SIM-TO-REAL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1600200"/>
            <a:ext cx="4023360" cy="740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35240" y="1600200"/>
            <a:ext cx="82296" cy="740664"/>
          </a:xfrm>
          <a:prstGeom prst="roundRect">
            <a:avLst>
              <a:gd name="adj" fmla="val 8000"/>
            </a:avLst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36992" y="1737360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0B78E3"/>
                </a:solidFill>
                <a:latin typeface="Consolas"/>
              </a:rPr>
              <a:t>768 px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73736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071B33"/>
                </a:solidFill>
                <a:latin typeface="Microsoft YaHei"/>
              </a:rPr>
              <a:t>保留远距离航拍中的小缺片纹理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2532888"/>
            <a:ext cx="4023360" cy="740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35240" y="2532888"/>
            <a:ext cx="82296" cy="740664"/>
          </a:xfrm>
          <a:prstGeom prst="roundRect">
            <a:avLst>
              <a:gd name="adj" fmla="val 8000"/>
            </a:avLst>
          </a:prstGeom>
          <a:solidFill>
            <a:srgbClr val="28A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36992" y="2670048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28A87A"/>
                </a:solidFill>
                <a:latin typeface="Consolas"/>
              </a:rPr>
              <a:t>双类别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670048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071B33"/>
                </a:solidFill>
                <a:latin typeface="Microsoft YaHei"/>
              </a:rPr>
              <a:t>绝缘子整体框 + 缺片局部框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3465576"/>
            <a:ext cx="4023360" cy="740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35240" y="3465576"/>
            <a:ext cx="82296" cy="740664"/>
          </a:xfrm>
          <a:prstGeom prst="roundRect">
            <a:avLst>
              <a:gd name="adj" fmla="val 8000"/>
            </a:avLst>
          </a:prstGeom>
          <a:solidFill>
            <a:srgbClr val="F3A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36992" y="3602736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F3AA35"/>
                </a:solidFill>
                <a:latin typeface="Consolas"/>
              </a:rPr>
              <a:t>双权重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3602736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071B33"/>
                </a:solidFill>
                <a:latin typeface="Microsoft YaHei"/>
              </a:rPr>
              <a:t>降低真实域微调造成的仿真遗忘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4398264"/>
            <a:ext cx="4023360" cy="740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635240" y="4398264"/>
            <a:ext cx="82296" cy="740664"/>
          </a:xfrm>
          <a:prstGeom prst="roundRect">
            <a:avLst>
              <a:gd name="adj" fmla="val 8000"/>
            </a:avLst>
          </a:prstGeom>
          <a:solidFill>
            <a:srgbClr val="E95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36992" y="4535424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E9574F"/>
                </a:solidFill>
                <a:latin typeface="Consolas"/>
              </a:rPr>
              <a:t>可追溯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4535424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30" b="1">
                <a:solidFill>
                  <a:srgbClr val="071B33"/>
                </a:solidFill>
                <a:latin typeface="Microsoft YaHei"/>
              </a:rPr>
              <a:t>训练配置、指标与 SHA-256 写入模型卡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5138928"/>
            <a:ext cx="11128248" cy="786384"/>
          </a:xfrm>
          <a:prstGeom prst="roundRect">
            <a:avLst>
              <a:gd name="adj" fmla="val 8000"/>
            </a:avLst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5367528"/>
            <a:ext cx="1143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1BFD0"/>
                </a:solidFill>
                <a:latin typeface="Microsoft YaHei"/>
              </a:rPr>
              <a:t>前沿一致性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5321808"/>
            <a:ext cx="90525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端到端检测 × 合成数据 × 迁移学习 × ROS 2 模块化 × 事件级证据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07489"/>
                </a:solidFill>
                <a:latin typeface="Microsoft YaHei"/>
              </a:rPr>
              <a:t>Doggo · ROS 2 + YOLOv10 输电巡检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07489"/>
                </a:solidFill>
                <a:latin typeface="Consolas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108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Consolas"/>
              </a:rPr>
              <a:t>MODEL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66928"/>
            <a:ext cx="97840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071B33"/>
                </a:solidFill>
                <a:latin typeface="Microsoft YaHei"/>
              </a:rPr>
              <a:t>真实模型产物与可量化结果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66928"/>
            <a:ext cx="5669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07489"/>
                </a:solidFill>
                <a:latin typeface="Consolas"/>
              </a:rP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738360" y="182880"/>
            <a:ext cx="640080" cy="10972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378440" y="182880"/>
            <a:ext cx="685800" cy="20116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064240" y="201168"/>
            <a:ext cx="621792" cy="182880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688068" y="24231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8148" y="132588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13948" y="333756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35740" y="15087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19" y="1417320"/>
            <a:ext cx="6501383" cy="4672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fect_20260721_182434_006.jpg"/>
          <p:cNvPicPr>
            <a:picLocks noChangeAspect="1"/>
          </p:cNvPicPr>
          <p:nvPr/>
        </p:nvPicPr>
        <p:blipFill>
          <a:blip r:embed="rId2"/>
          <a:srcRect t="5272" b="5272"/>
          <a:stretch>
            <a:fillRect/>
          </a:stretch>
        </p:blipFill>
        <p:spPr>
          <a:xfrm>
            <a:off x="530352" y="1444752"/>
            <a:ext cx="6446520" cy="43251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3" y="5833872"/>
            <a:ext cx="630021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07489"/>
                </a:solidFill>
                <a:latin typeface="Microsoft YaHei"/>
              </a:rPr>
              <a:t>实际 ROS 2 推理证据｜真实输电背景；CPLID 缺陷目标为合成缺片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12" y="1444752"/>
            <a:ext cx="199339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527048"/>
            <a:ext cx="177393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28A87A"/>
                </a:solidFill>
                <a:latin typeface="Consolas"/>
              </a:rPr>
              <a:t>0.980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177393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07489"/>
                </a:solidFill>
                <a:latin typeface="Microsoft YaHei"/>
              </a:rPr>
              <a:t>missing_disc mAP50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82328" y="1444752"/>
            <a:ext cx="217627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92055" y="1527048"/>
            <a:ext cx="1956815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B78E3"/>
                </a:solidFill>
                <a:latin typeface="Consolas"/>
              </a:rPr>
              <a:t>10.7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2055" y="1965960"/>
            <a:ext cx="195681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07489"/>
                </a:solidFill>
                <a:latin typeface="Microsoft YaHei"/>
              </a:rPr>
              <a:t>RTX 2080 Ti 单帧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2441448"/>
            <a:ext cx="199339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523744"/>
            <a:ext cx="177393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11BFD0"/>
                </a:solidFill>
                <a:latin typeface="Consolas"/>
              </a:rPr>
              <a:t>0.914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962656"/>
            <a:ext cx="177393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07489"/>
                </a:solidFill>
                <a:latin typeface="Microsoft YaHei"/>
              </a:rPr>
              <a:t>缺片 Precision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82328" y="2441448"/>
            <a:ext cx="217627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92055" y="2523744"/>
            <a:ext cx="1956815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F3AA35"/>
                </a:solidFill>
                <a:latin typeface="Consolas"/>
              </a:rPr>
              <a:t>0.960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5" y="2962656"/>
            <a:ext cx="195681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07489"/>
                </a:solidFill>
                <a:latin typeface="Microsoft YaHei"/>
              </a:rPr>
              <a:t>缺片 Recall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3520440"/>
            <a:ext cx="4361688" cy="1088136"/>
          </a:xfrm>
          <a:prstGeom prst="roundRect">
            <a:avLst>
              <a:gd name="adj" fmla="val 8000"/>
            </a:avLst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34656" y="3703320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1BFD0"/>
                </a:solidFill>
                <a:latin typeface="Consolas"/>
              </a:rPr>
              <a:t>可交付权重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4014215"/>
            <a:ext cx="37673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Consolas"/>
              </a:rPr>
              <a:t>insulator_defect_yolov10s.pt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34656" y="4315968"/>
            <a:ext cx="37673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B8CCDC"/>
                </a:solidFill>
                <a:latin typeface="Consolas"/>
              </a:rPr>
              <a:t>16.53 MB · SHA-256  a61f1bea…c273f6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6912" y="4800600"/>
            <a:ext cx="4361688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4983480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Microsoft YaHei"/>
              </a:rPr>
              <a:t>两类平均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983480"/>
            <a:ext cx="2487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Consolas"/>
              </a:rPr>
              <a:t>P 0.791   R 0.844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34656" y="5330952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Microsoft YaHei"/>
              </a:rPr>
              <a:t>mAP50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5303520"/>
            <a:ext cx="1097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71B33"/>
                </a:solidFill>
                <a:latin typeface="Consolas"/>
              </a:rPr>
              <a:t>0.882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5330952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Microsoft YaHei"/>
              </a:rPr>
              <a:t>mAP50-95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88752" y="5303520"/>
            <a:ext cx="74980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71B33"/>
                </a:solidFill>
                <a:latin typeface="Consolas"/>
              </a:rPr>
              <a:t>0.530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07489"/>
                </a:solidFill>
                <a:latin typeface="Microsoft YaHei"/>
              </a:rPr>
              <a:t>Doggo · ROS 2 + YOLOv10 输电巡检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07489"/>
                </a:solidFill>
                <a:latin typeface="Consolas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108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Consolas"/>
              </a:rPr>
              <a:t>ROS 2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66928"/>
            <a:ext cx="97840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071B33"/>
                </a:solidFill>
                <a:latin typeface="Microsoft YaHei"/>
              </a:rPr>
              <a:t>工程交付：检测不是终点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66928"/>
            <a:ext cx="5669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07489"/>
                </a:solidFill>
                <a:latin typeface="Consolas"/>
              </a:rPr>
              <a:t>07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738360" y="182880"/>
            <a:ext cx="640080" cy="10972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378440" y="182880"/>
            <a:ext cx="685800" cy="20116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064240" y="201168"/>
            <a:ext cx="621792" cy="182880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688068" y="24231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8148" y="132588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13948" y="333756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35740" y="15087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408176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B78E3"/>
                </a:solidFill>
                <a:latin typeface="Consolas"/>
              </a:rPr>
              <a:t>输入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1755648"/>
            <a:ext cx="2350008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874519"/>
            <a:ext cx="19385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Microsoft YaHei"/>
              </a:rPr>
              <a:t>Gazebo 相机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2414015"/>
            <a:ext cx="2350008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32887"/>
            <a:ext cx="19385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Microsoft YaHei"/>
              </a:rPr>
              <a:t>真实 ROS 相机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3072384"/>
            <a:ext cx="2350008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91256"/>
            <a:ext cx="19385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Microsoft YaHei"/>
              </a:rPr>
              <a:t>图片 / 目录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730752"/>
            <a:ext cx="2350008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49624"/>
            <a:ext cx="19385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071B33"/>
                </a:solidFill>
                <a:latin typeface="Microsoft YaHei"/>
              </a:rPr>
              <a:t>视频文件</a:t>
            </a:r>
          </a:p>
        </p:txBody>
      </p:sp>
      <p:sp>
        <p:nvSpPr>
          <p:cNvPr id="24" name="Chevron 23"/>
          <p:cNvSpPr/>
          <p:nvPr/>
        </p:nvSpPr>
        <p:spPr>
          <a:xfrm>
            <a:off x="3108960" y="2441448"/>
            <a:ext cx="502920" cy="694944"/>
          </a:xfrm>
          <a:prstGeom prst="chevron">
            <a:avLst/>
          </a:prstGeom>
          <a:solidFill>
            <a:srgbClr val="11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13048" y="1691640"/>
            <a:ext cx="3858768" cy="2414016"/>
          </a:xfrm>
          <a:prstGeom prst="roundRect">
            <a:avLst>
              <a:gd name="adj" fmla="val 8000"/>
            </a:avLst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33087" y="2039112"/>
            <a:ext cx="32186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1BFD0"/>
                </a:solidFill>
                <a:latin typeface="Consolas"/>
              </a:rPr>
              <a:t>YOLOv10 ROS 2 NODE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7" y="2560320"/>
            <a:ext cx="32186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统一推理节点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7" y="3145536"/>
            <a:ext cx="321868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BFD2E2"/>
                </a:solidFill>
                <a:latin typeface="Microsoft YaHei"/>
              </a:rPr>
              <a:t>模型切换 · 阈值配置 · 证据冷却</a:t>
            </a:r>
          </a:p>
        </p:txBody>
      </p:sp>
      <p:sp>
        <p:nvSpPr>
          <p:cNvPr id="29" name="Chevron 28"/>
          <p:cNvSpPr/>
          <p:nvPr/>
        </p:nvSpPr>
        <p:spPr>
          <a:xfrm>
            <a:off x="7900416" y="2441448"/>
            <a:ext cx="502920" cy="694944"/>
          </a:xfrm>
          <a:prstGeom prst="chevron">
            <a:avLst/>
          </a:prstGeom>
          <a:solidFill>
            <a:srgbClr val="11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1408176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8A87A"/>
                </a:solidFill>
                <a:latin typeface="Consolas"/>
              </a:rPr>
              <a:t>输出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1755648"/>
            <a:ext cx="3017520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42248" y="1874519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071B33"/>
                </a:solidFill>
                <a:latin typeface="Consolas"/>
              </a:rPr>
              <a:t>/doggo/detections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2414015"/>
            <a:ext cx="3017520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2248" y="2532887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071B33"/>
                </a:solidFill>
                <a:latin typeface="Consolas"/>
              </a:rPr>
              <a:t>/doggo/defect_alerts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3072384"/>
            <a:ext cx="3017520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42248" y="3191256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071B33"/>
                </a:solidFill>
                <a:latin typeface="Consolas"/>
              </a:rPr>
              <a:t>/doggo/detection_image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41080" y="3730752"/>
            <a:ext cx="3017520" cy="484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42248" y="3849624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071B33"/>
                </a:solidFill>
                <a:latin typeface="Microsoft YaHei"/>
              </a:rPr>
              <a:t>JPG + JSON 证据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4663440"/>
            <a:ext cx="6720840" cy="1152144"/>
          </a:xfrm>
          <a:prstGeom prst="roundRect">
            <a:avLst>
              <a:gd name="adj" fmla="val 8000"/>
            </a:avLst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4864608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1BFD0"/>
                </a:solidFill>
                <a:latin typeface="Consolas"/>
              </a:rPr>
              <a:t>一键运行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230368"/>
            <a:ext cx="25420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./scripts/run_sim.sh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6432" y="5230368"/>
            <a:ext cx="3474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Consolas"/>
              </a:rPr>
              <a:t>ros2 launch ... real_image_demo.launch.py source:=...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79792" y="4663440"/>
            <a:ext cx="4178808" cy="1152144"/>
          </a:xfrm>
          <a:prstGeom prst="roundRect">
            <a:avLst>
              <a:gd name="adj" fmla="val 8000"/>
            </a:avLst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79" y="4864608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Consolas"/>
              </a:rPr>
              <a:t>GitHub 规范产物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5230368"/>
            <a:ext cx="3474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71B33"/>
                </a:solidFill>
                <a:latin typeface="Microsoft YaHei"/>
              </a:rPr>
              <a:t>README · 模型卡 · MIT · 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5504688"/>
            <a:ext cx="3474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07489"/>
                </a:solidFill>
                <a:latin typeface="Microsoft YaHei"/>
              </a:rPr>
              <a:t>Git LFS · Issue / PR 模板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07489"/>
                </a:solidFill>
                <a:latin typeface="Microsoft YaHei"/>
              </a:rPr>
              <a:t>Doggo · ROS 2 + YOLOv10 输电巡检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07489"/>
                </a:solidFill>
                <a:latin typeface="Consolas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108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78E3"/>
                </a:solidFill>
                <a:latin typeface="Consolas"/>
              </a:rPr>
              <a:t>LIMITATIONS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66928"/>
            <a:ext cx="97840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071B33"/>
                </a:solidFill>
                <a:latin typeface="Microsoft YaHei"/>
              </a:rPr>
              <a:t>现阶段不足：可交付，也要把边界说清楚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566928"/>
            <a:ext cx="5669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07489"/>
                </a:solidFill>
                <a:latin typeface="Consolas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143000"/>
            <a:ext cx="11183112" cy="0"/>
          </a:xfrm>
          <a:prstGeom prst="line">
            <a:avLst/>
          </a:prstGeom>
          <a:ln w="1270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738360" y="182880"/>
            <a:ext cx="640080" cy="10972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378440" y="182880"/>
            <a:ext cx="685800" cy="201168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064240" y="201168"/>
            <a:ext cx="621792" cy="182880"/>
          </a:xfrm>
          <a:prstGeom prst="line">
            <a:avLst/>
          </a:prstGeom>
          <a:ln w="15240">
            <a:solidFill>
              <a:srgbClr val="B8D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688068" y="24231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8148" y="132588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13948" y="333756"/>
            <a:ext cx="100584" cy="100584"/>
          </a:xfrm>
          <a:prstGeom prst="ellipse">
            <a:avLst/>
          </a:prstGeom>
          <a:solidFill>
            <a:srgbClr val="B8D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35740" y="150876"/>
            <a:ext cx="100584" cy="100584"/>
          </a:xfrm>
          <a:prstGeom prst="ellipse">
            <a:avLst/>
          </a:prstGeom>
          <a:solidFill>
            <a:srgbClr val="0B7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298448"/>
            <a:ext cx="9875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07489"/>
                </a:solidFill>
                <a:latin typeface="Microsoft YaHei"/>
              </a:rPr>
              <a:t>工程严谨性不只是给出高指标，更是说明指标在什么条件下成立。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1755648"/>
            <a:ext cx="2798064" cy="448056"/>
          </a:xfrm>
          <a:prstGeom prst="roundRect">
            <a:avLst>
              <a:gd name="adj" fmla="val 8000"/>
            </a:avLst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1865376"/>
            <a:ext cx="250545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现阶段不足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755648"/>
            <a:ext cx="2770632" cy="448056"/>
          </a:xfrm>
          <a:prstGeom prst="roundRect">
            <a:avLst>
              <a:gd name="adj" fmla="val 8000"/>
            </a:avLst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865376"/>
            <a:ext cx="247802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可能影响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55648"/>
            <a:ext cx="5394960" cy="448056"/>
          </a:xfrm>
          <a:prstGeom prst="roundRect">
            <a:avLst>
              <a:gd name="adj" fmla="val 8000"/>
            </a:avLst>
          </a:prstGeom>
          <a:solidFill>
            <a:srgbClr val="07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865376"/>
            <a:ext cx="51023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下一阶段改进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2295144"/>
            <a:ext cx="1112824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2404872"/>
            <a:ext cx="2468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071B33"/>
                </a:solidFill>
                <a:latin typeface="Microsoft YaHei"/>
              </a:rPr>
              <a:t>仅有 missing_disc 一类缺陷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404872"/>
            <a:ext cx="2468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0">
                <a:solidFill>
                  <a:srgbClr val="607489"/>
                </a:solidFill>
                <a:latin typeface="Microsoft YaHei"/>
              </a:rPr>
              <a:t>无法覆盖裂纹、污损、闪络等故障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404872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1">
                <a:solidFill>
                  <a:srgbClr val="0B78E3"/>
                </a:solidFill>
                <a:latin typeface="Microsoft YaHei"/>
              </a:rPr>
              <a:t>建立多缺陷标签体系；引入分割/异常检测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2907791"/>
            <a:ext cx="11128248" cy="594360"/>
          </a:xfrm>
          <a:prstGeom prst="rect">
            <a:avLst/>
          </a:prstGeom>
          <a:solidFill>
            <a:srgbClr val="F0F5F9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017520"/>
            <a:ext cx="2468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071B33"/>
                </a:solidFill>
                <a:latin typeface="Microsoft YaHei"/>
              </a:rPr>
              <a:t>CPLID 缺片目标为合成样本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017520"/>
            <a:ext cx="2468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0">
                <a:solidFill>
                  <a:srgbClr val="607489"/>
                </a:solidFill>
                <a:latin typeface="Microsoft YaHei"/>
              </a:rPr>
              <a:t>真实故障纹理与背景融合仍有域差异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017520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1">
                <a:solidFill>
                  <a:srgbClr val="0B78E3"/>
                </a:solidFill>
                <a:latin typeface="Microsoft YaHei"/>
              </a:rPr>
              <a:t>采集真实故障；电力专家复核标注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3520439"/>
            <a:ext cx="1112824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3630168"/>
            <a:ext cx="2468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071B33"/>
                </a:solidFill>
                <a:latin typeface="Microsoft YaHei"/>
              </a:rPr>
              <a:t>指标来自同源固定划分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630168"/>
            <a:ext cx="2468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0">
                <a:solidFill>
                  <a:srgbClr val="607489"/>
                </a:solidFill>
                <a:latin typeface="Microsoft YaHei"/>
              </a:rPr>
              <a:t>可能高估跨地区、相机和天气泛化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630168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1">
                <a:solidFill>
                  <a:srgbClr val="0B78E3"/>
                </a:solidFill>
                <a:latin typeface="Microsoft YaHei"/>
              </a:rPr>
              <a:t>开展跨线路、跨设备外部测试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133087"/>
            <a:ext cx="11128248" cy="594360"/>
          </a:xfrm>
          <a:prstGeom prst="rect">
            <a:avLst/>
          </a:prstGeom>
          <a:solidFill>
            <a:srgbClr val="F0F5F9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4242816"/>
            <a:ext cx="2468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071B33"/>
                </a:solidFill>
                <a:latin typeface="Microsoft YaHei"/>
              </a:rPr>
              <a:t>尚未完成现场飞行验收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242816"/>
            <a:ext cx="2468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0">
                <a:solidFill>
                  <a:srgbClr val="607489"/>
                </a:solidFill>
                <a:latin typeface="Microsoft YaHei"/>
              </a:rPr>
              <a:t>阈值、漏检与误报成本未被充分量化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242816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1">
                <a:solidFill>
                  <a:srgbClr val="0B78E3"/>
                </a:solidFill>
                <a:latin typeface="Microsoft YaHei"/>
              </a:rPr>
              <a:t>建立故障案例库与分级验收流程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4745736"/>
            <a:ext cx="1112824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4855464"/>
            <a:ext cx="24688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19" b="1">
                <a:solidFill>
                  <a:srgbClr val="071B33"/>
                </a:solidFill>
                <a:latin typeface="Microsoft YaHei"/>
              </a:rPr>
              <a:t>仅验证桌面 GPU 推理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855464"/>
            <a:ext cx="2468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0">
                <a:solidFill>
                  <a:srgbClr val="607489"/>
                </a:solidFill>
                <a:latin typeface="Microsoft YaHei"/>
              </a:rPr>
              <a:t>Jetson/边缘终端的功耗与实时性未知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855464"/>
            <a:ext cx="491947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1">
                <a:solidFill>
                  <a:srgbClr val="0B78E3"/>
                </a:solidFill>
                <a:latin typeface="Microsoft YaHei"/>
              </a:rPr>
              <a:t>ONNX/TensorRT、量化与端侧压力测试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" y="5596128"/>
            <a:ext cx="11128248" cy="539496"/>
          </a:xfrm>
          <a:prstGeom prst="roundRect">
            <a:avLst>
              <a:gd name="adj" fmla="val 8000"/>
            </a:avLst>
          </a:prstGeom>
          <a:solidFill>
            <a:srgbClr val="FF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742432"/>
            <a:ext cx="9326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E9574F"/>
                </a:solidFill>
                <a:latin typeface="Microsoft YaHei"/>
              </a:rPr>
              <a:t>当前定位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64792" y="5715000"/>
            <a:ext cx="94640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71B33"/>
                </a:solidFill>
                <a:latin typeface="Microsoft YaHei"/>
              </a:rPr>
              <a:t>课程成果 / 算法原型 / 现场数据预筛工具；不能替代电力安全专业复核。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7E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607489"/>
                </a:solidFill>
                <a:latin typeface="Microsoft YaHei"/>
              </a:rPr>
              <a:t>Doggo · 结论：工程可运行，指标可追溯，边界可解释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35640" y="6528816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07489"/>
                </a:solidFill>
                <a:latin typeface="Consolas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Doggo ROS 2 + YOLOv10 绝缘子缺陷智能巡检系统</dc:title>
  <dc:subject>电力高校特色的八页项目成果汇报</dc:subject>
  <dc:creator>Doggo Project</dc:creator>
  <cp:keywords>ROS 2, YOLOv10, 绝缘子, 输电线路, 缺陷检测, Sim-to-Real</cp:keywords>
  <dc:description>Metrics and limitations are documented from the local project artifacts.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