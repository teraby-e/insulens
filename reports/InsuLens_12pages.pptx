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14"/>
    <p:sldId id="267" r:id="rId15"/>
    <p:sldId id="268" r:id="rId16"/>
    <p:sldId id="269" r:id="rId17"/>
    <p:sldId id="265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7" d="100"/>
          <a:sy n="137" d="100"/>
        </p:scale>
        <p:origin x="84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510528" cy="6858000"/>
          </a:xfrm>
          <a:prstGeom prst="rect">
            <a:avLst/>
          </a:prstGeom>
          <a:solidFill>
            <a:srgbClr val="07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0528" y="0"/>
            <a:ext cx="164592" cy="6858000"/>
          </a:xfrm>
          <a:prstGeom prst="rect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75120" y="0"/>
            <a:ext cx="91440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66560" y="6016752"/>
            <a:ext cx="5422392" cy="841248"/>
          </a:xfrm>
          <a:prstGeom prst="rect">
            <a:avLst/>
          </a:prstGeom>
          <a:solidFill>
            <a:srgbClr val="07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640080"/>
            <a:ext cx="4480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POWER · AI · WEB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353312"/>
            <a:ext cx="5029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面向新型电力系统的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37360"/>
            <a:ext cx="516636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绝缘子智能巡检
与报告系统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54680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FastAPI Web + ROS 2 + YOLOv10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4672" y="3575304"/>
            <a:ext cx="4636008" cy="0"/>
          </a:xfrm>
          <a:prstGeom prst="line">
            <a:avLst/>
          </a:prstGeom>
          <a:ln w="12700">
            <a:solidFill>
              <a:srgbClr val="2A5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4672" y="3822191"/>
            <a:ext cx="1188720" cy="310896"/>
          </a:xfrm>
          <a:prstGeom prst="roundRect">
            <a:avLst/>
          </a:prstGeom>
          <a:solidFill>
            <a:srgbClr val="0B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五类模型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9696" y="3822191"/>
            <a:ext cx="1188720" cy="310896"/>
          </a:xfrm>
          <a:prstGeom prst="roundRect">
            <a:avLst/>
          </a:prstGeom>
          <a:solidFill>
            <a:srgbClr val="0B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六类报告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822191"/>
            <a:ext cx="1353312" cy="310896"/>
          </a:xfrm>
          <a:prstGeom prst="roundRect">
            <a:avLst/>
          </a:prstGeom>
          <a:solidFill>
            <a:srgbClr val="0B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图片 / 视频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4261104"/>
            <a:ext cx="1353312" cy="310896"/>
          </a:xfrm>
          <a:prstGeom prst="roundRect">
            <a:avLst/>
          </a:prstGeom>
          <a:solidFill>
            <a:srgbClr val="0B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可追溯交付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04288" y="4261104"/>
            <a:ext cx="1353312" cy="310896"/>
          </a:xfrm>
          <a:prstGeom prst="roundRect">
            <a:avLst/>
          </a:prstGeom>
          <a:solidFill>
            <a:srgbClr val="0B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小目标增强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03904" y="4261104"/>
            <a:ext cx="1188720" cy="310896"/>
          </a:xfrm>
          <a:prstGeom prst="roundRect">
            <a:avLst/>
          </a:prstGeom>
          <a:solidFill>
            <a:srgbClr val="0B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轨迹去重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6291072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2026 · Doggo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6254496"/>
            <a:ext cx="473659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现有真实域推理证据｜缺片检测基线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PAIN POINTS &amp;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从现场巡检痛点到工程交付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新增 Web 入口，让模型能力能够直接形成图片、视频与报告交付。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02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2 / 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353312"/>
            <a:ext cx="4892040" cy="758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1353312"/>
            <a:ext cx="64008" cy="758952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1463040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F5B5B"/>
                </a:solidFill>
                <a:latin typeface="宋体"/>
                <a:ea typeface="宋体"/>
                <a:cs typeface="宋体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1435608"/>
            <a:ext cx="414223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小目标、强背景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1700784"/>
            <a:ext cx="414223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远距离航拍下绝缘子占比小，杆塔、导线、天空与遮挡容易形成干扰。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2258568"/>
            <a:ext cx="4892040" cy="758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" y="2258568"/>
            <a:ext cx="64008" cy="758952"/>
          </a:xfrm>
          <a:prstGeom prst="rect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2368296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3A11A"/>
                </a:solidFill>
                <a:latin typeface="宋体"/>
                <a:ea typeface="宋体"/>
                <a:cs typeface="宋体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2340864"/>
            <a:ext cx="414223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缺陷少、数据贵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" y="2606040"/>
            <a:ext cx="414223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多类真实故障样本稀缺，来源、许可、标注与划分都必须可追溯。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" y="3163824"/>
            <a:ext cx="4892040" cy="758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" y="3163824"/>
            <a:ext cx="64008" cy="758952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327355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" y="3246120"/>
            <a:ext cx="414223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视频重复计数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" y="3511296"/>
            <a:ext cx="414223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同一目标跨帧反复出现，若按检测框累计会高估巡检数量与故障事件。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50992" y="1353312"/>
            <a:ext cx="5980176" cy="3474720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61888" y="1581912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工程交付目标</a:t>
            </a:r>
          </a:p>
        </p:txBody>
      </p:sp>
      <p:sp>
        <p:nvSpPr>
          <p:cNvPr id="34" name="Oval 33"/>
          <p:cNvSpPr/>
          <p:nvPr/>
        </p:nvSpPr>
        <p:spPr>
          <a:xfrm>
            <a:off x="5961888" y="1956816"/>
            <a:ext cx="329184" cy="329184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1938528"/>
            <a:ext cx="48463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浏览器直接上传图片或视频，无需 ROS 环境</a:t>
            </a:r>
          </a:p>
        </p:txBody>
      </p:sp>
      <p:sp>
        <p:nvSpPr>
          <p:cNvPr id="36" name="Oval 35"/>
          <p:cNvSpPr/>
          <p:nvPr/>
        </p:nvSpPr>
        <p:spPr>
          <a:xfrm>
            <a:off x="5961888" y="2615184"/>
            <a:ext cx="329184" cy="329184"/>
          </a:xfrm>
          <a:prstGeom prst="ellipse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2596896"/>
            <a:ext cx="48463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实时展示总数、六类统计、FPS 与平均置信度</a:t>
            </a:r>
          </a:p>
        </p:txBody>
      </p:sp>
      <p:sp>
        <p:nvSpPr>
          <p:cNvPr id="38" name="Oval 37"/>
          <p:cNvSpPr/>
          <p:nvPr/>
        </p:nvSpPr>
        <p:spPr>
          <a:xfrm>
            <a:off x="5961888" y="3273552"/>
            <a:ext cx="329184" cy="329184"/>
          </a:xfrm>
          <a:prstGeom prst="ellipse">
            <a:avLst/>
          </a:prstGeom>
          <a:solidFill>
            <a:srgbClr val="7A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3255264"/>
            <a:ext cx="48463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视频以类别一致的 Track ID 去重计数</a:t>
            </a:r>
          </a:p>
        </p:txBody>
      </p:sp>
      <p:sp>
        <p:nvSpPr>
          <p:cNvPr id="40" name="Oval 39"/>
          <p:cNvSpPr/>
          <p:nvPr/>
        </p:nvSpPr>
        <p:spPr>
          <a:xfrm>
            <a:off x="5961888" y="3931920"/>
            <a:ext cx="329184" cy="329184"/>
          </a:xfrm>
          <a:prstGeom prst="ellipse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3913632"/>
            <a:ext cx="48463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输出标注媒体，并导出 JSON / CSV 报告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352" y="5047488"/>
            <a:ext cx="11100816" cy="713232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248656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项目定位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5175504"/>
            <a:ext cx="90525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独立 Web 巡检交付与既有 ROS 2 工程链路并行，面向课程实践、算法原型与现场数据预筛。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0352" y="5925312"/>
            <a:ext cx="1481328" cy="310896"/>
          </a:xfrm>
          <a:prstGeom prst="roundRect">
            <a:avLst/>
          </a:prstGeom>
          <a:solidFill>
            <a:srgbClr val="E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23AE86"/>
                </a:solidFill>
                <a:latin typeface="宋体"/>
                <a:ea typeface="宋体"/>
                <a:cs typeface="宋体"/>
              </a:rPr>
              <a:t>上传即巡检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57984" y="5925312"/>
            <a:ext cx="1481328" cy="310896"/>
          </a:xfrm>
          <a:prstGeom prst="roundRect">
            <a:avLst/>
          </a:prstGeom>
          <a:solidFill>
            <a:srgbClr val="EA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轨迹级统计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85615" y="5925312"/>
            <a:ext cx="1481328" cy="310896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3A11A"/>
                </a:solidFill>
                <a:latin typeface="宋体"/>
                <a:ea typeface="宋体"/>
                <a:cs typeface="宋体"/>
              </a:rPr>
              <a:t>报告可审计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5907024"/>
            <a:ext cx="500176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EF5B5B"/>
                </a:solidFill>
                <a:latin typeface="宋体"/>
                <a:ea typeface="宋体"/>
                <a:cs typeface="宋体"/>
              </a:rPr>
              <a:t>边界：不能替代电力安全专业复核或现场作业决策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两条运行链路，一个检测内核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Web 模式独立于 ROS；两条链路共享模型、类别规则与可追溯产物。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03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3 / 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98448"/>
            <a:ext cx="11100816" cy="1517904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481328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WEB 交付链路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09928" y="1627632"/>
            <a:ext cx="1572768" cy="731520"/>
          </a:xfrm>
          <a:prstGeom prst="roundRect">
            <a:avLst/>
          </a:prstGeom>
          <a:solidFill>
            <a:srgbClr val="0B2947"/>
          </a:solidFill>
          <a:ln w="1016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09928" y="1627632"/>
            <a:ext cx="54864" cy="73152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56232" y="1719072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浏览器上传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7944" y="1984248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图片 / 视频</a:t>
            </a:r>
          </a:p>
        </p:txBody>
      </p:sp>
      <p:sp>
        <p:nvSpPr>
          <p:cNvPr id="23" name="Chevron 22"/>
          <p:cNvSpPr/>
          <p:nvPr/>
        </p:nvSpPr>
        <p:spPr>
          <a:xfrm>
            <a:off x="3328416" y="1792224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21024" y="1627632"/>
            <a:ext cx="1572768" cy="731520"/>
          </a:xfrm>
          <a:prstGeom prst="roundRect">
            <a:avLst/>
          </a:prstGeom>
          <a:solidFill>
            <a:srgbClr val="0B2947"/>
          </a:solidFill>
          <a:ln w="1016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21024" y="1627632"/>
            <a:ext cx="54864" cy="731520"/>
          </a:xfrm>
          <a:prstGeom prst="rect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67328" y="1719072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FastAPI 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1984248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job_id + 健康检查</a:t>
            </a:r>
          </a:p>
        </p:txBody>
      </p:sp>
      <p:sp>
        <p:nvSpPr>
          <p:cNvPr id="28" name="Chevron 27"/>
          <p:cNvSpPr/>
          <p:nvPr/>
        </p:nvSpPr>
        <p:spPr>
          <a:xfrm>
            <a:off x="5239512" y="1792224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532120" y="1627632"/>
            <a:ext cx="1572768" cy="731520"/>
          </a:xfrm>
          <a:prstGeom prst="roundRect">
            <a:avLst/>
          </a:prstGeom>
          <a:solidFill>
            <a:srgbClr val="0B2947"/>
          </a:solidFill>
          <a:ln w="1016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32120" y="1627632"/>
            <a:ext cx="54864" cy="731520"/>
          </a:xfrm>
          <a:prstGeom prst="rect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78424" y="1719072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检测内核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0136" y="1984248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全图 + 切片</a:t>
            </a:r>
          </a:p>
        </p:txBody>
      </p:sp>
      <p:sp>
        <p:nvSpPr>
          <p:cNvPr id="33" name="Chevron 32"/>
          <p:cNvSpPr/>
          <p:nvPr/>
        </p:nvSpPr>
        <p:spPr>
          <a:xfrm>
            <a:off x="7150608" y="1792224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43216" y="1627632"/>
            <a:ext cx="1572768" cy="731520"/>
          </a:xfrm>
          <a:prstGeom prst="roundRect">
            <a:avLst/>
          </a:prstGeom>
          <a:solidFill>
            <a:srgbClr val="0B2947"/>
          </a:solidFill>
          <a:ln w="1016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43216" y="1627632"/>
            <a:ext cx="54864" cy="731520"/>
          </a:xfrm>
          <a:prstGeom prst="rect">
            <a:avLst/>
          </a:prstGeom>
          <a:solidFill>
            <a:srgbClr val="7A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0" y="1719072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视频跟踪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232" y="1984248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IoU + Track ID</a:t>
            </a:r>
          </a:p>
        </p:txBody>
      </p:sp>
      <p:sp>
        <p:nvSpPr>
          <p:cNvPr id="38" name="Chevron 37"/>
          <p:cNvSpPr/>
          <p:nvPr/>
        </p:nvSpPr>
        <p:spPr>
          <a:xfrm>
            <a:off x="9061704" y="1792224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354312" y="1627632"/>
            <a:ext cx="1572768" cy="731520"/>
          </a:xfrm>
          <a:prstGeom prst="roundRect">
            <a:avLst/>
          </a:prstGeom>
          <a:solidFill>
            <a:srgbClr val="0B2947"/>
          </a:solidFill>
          <a:ln w="1016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54312" y="1627632"/>
            <a:ext cx="54864" cy="731520"/>
          </a:xfrm>
          <a:prstGeom prst="rect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0616" y="1719072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结果交付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82328" y="1984248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媒体 + JSON / CSV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0352" y="3035808"/>
            <a:ext cx="11100816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200400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ROS 2 工程链路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09928" y="3291840"/>
            <a:ext cx="157276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09928" y="3291840"/>
            <a:ext cx="54864" cy="73152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56232" y="3383280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Gazebo / 相机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37944" y="3648456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图片、目录或视频</a:t>
            </a:r>
          </a:p>
        </p:txBody>
      </p:sp>
      <p:sp>
        <p:nvSpPr>
          <p:cNvPr id="49" name="Chevron 48"/>
          <p:cNvSpPr/>
          <p:nvPr/>
        </p:nvSpPr>
        <p:spPr>
          <a:xfrm>
            <a:off x="3328416" y="3474720"/>
            <a:ext cx="201168" cy="274320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621024" y="3291840"/>
            <a:ext cx="157276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21024" y="3291840"/>
            <a:ext cx="54864" cy="731520"/>
          </a:xfrm>
          <a:prstGeom prst="rect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67328" y="3383280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Image 话题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39" y="3648456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/InsuLens/*/image_raw</a:t>
            </a:r>
          </a:p>
        </p:txBody>
      </p:sp>
      <p:sp>
        <p:nvSpPr>
          <p:cNvPr id="54" name="Chevron 53"/>
          <p:cNvSpPr/>
          <p:nvPr/>
        </p:nvSpPr>
        <p:spPr>
          <a:xfrm>
            <a:off x="5239512" y="3474720"/>
            <a:ext cx="201168" cy="274320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532120" y="3291840"/>
            <a:ext cx="157276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32120" y="3291840"/>
            <a:ext cx="54864" cy="731520"/>
          </a:xfrm>
          <a:prstGeom prst="rect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78424" y="3383280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检测节点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0136" y="3648456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框、类别、置信度</a:t>
            </a:r>
          </a:p>
        </p:txBody>
      </p:sp>
      <p:sp>
        <p:nvSpPr>
          <p:cNvPr id="59" name="Chevron 58"/>
          <p:cNvSpPr/>
          <p:nvPr/>
        </p:nvSpPr>
        <p:spPr>
          <a:xfrm>
            <a:off x="7150608" y="3474720"/>
            <a:ext cx="201168" cy="274320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443216" y="3291840"/>
            <a:ext cx="157276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43216" y="3291840"/>
            <a:ext cx="54864" cy="73152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89520" y="3383280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事件证据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71232" y="3648456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告警 + JPG / JSON</a:t>
            </a:r>
          </a:p>
        </p:txBody>
      </p:sp>
      <p:sp>
        <p:nvSpPr>
          <p:cNvPr id="64" name="Chevron 63"/>
          <p:cNvSpPr/>
          <p:nvPr/>
        </p:nvSpPr>
        <p:spPr>
          <a:xfrm>
            <a:off x="9061704" y="3474720"/>
            <a:ext cx="201168" cy="274320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354312" y="3291840"/>
            <a:ext cx="157276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354312" y="3291840"/>
            <a:ext cx="54864" cy="731520"/>
          </a:xfrm>
          <a:prstGeom prst="rect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00616" y="3383280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监视与看板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82328" y="3648456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终端 / rosbridge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0352" y="4736592"/>
            <a:ext cx="2615184" cy="1188720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4" y="4901184"/>
            <a:ext cx="2286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SMALL OBJECT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4944" y="5230368"/>
            <a:ext cx="2286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P2 + Coordinate Attention
重叠切片与类别感知融合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346704" y="4736592"/>
            <a:ext cx="2615184" cy="1188720"/>
          </a:xfrm>
          <a:prstGeom prst="roundRect">
            <a:avLst/>
          </a:prstGeom>
          <a:solidFill>
            <a:srgbClr val="F0E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11296" y="4901184"/>
            <a:ext cx="2286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7A78E8"/>
                </a:solidFill>
                <a:latin typeface="宋体"/>
                <a:ea typeface="宋体"/>
                <a:cs typeface="宋体"/>
              </a:rPr>
              <a:t>VIDEO TRACE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11296" y="5230368"/>
            <a:ext cx="2286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类别一致 Track ID
按唯一轨迹统计目标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63056" y="4736592"/>
            <a:ext cx="2615184" cy="1188720"/>
          </a:xfrm>
          <a:prstGeom prst="roundRect">
            <a:avLst/>
          </a:prstGeom>
          <a:solidFill>
            <a:srgbClr val="EAF7F2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27648" y="4901184"/>
            <a:ext cx="2286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23AE86"/>
                </a:solidFill>
                <a:latin typeface="宋体"/>
                <a:ea typeface="宋体"/>
                <a:cs typeface="宋体"/>
              </a:rPr>
              <a:t>MLOPS TRACE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27648" y="5230368"/>
            <a:ext cx="2286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权重、类别映射、指标
校验值与报告绑定版本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979408" y="4736592"/>
            <a:ext cx="2615184" cy="1188720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44000" y="4901184"/>
            <a:ext cx="2286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F3A11A"/>
                </a:solidFill>
                <a:latin typeface="宋体"/>
                <a:ea typeface="宋体"/>
                <a:cs typeface="宋体"/>
              </a:rPr>
              <a:t>DEPLOYMENT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0" y="5230368"/>
            <a:ext cx="2286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结构化剪枝 → ONNX
TensorRT / OpenVINO / INT8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CLASSIFICATION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五类模型输出，六类业务报告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严格区分“模型训练类别”和“业务报告类别”，避免把推断逻辑误写成训练能力。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04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4 / 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353312"/>
            <a:ext cx="4663440" cy="3511296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1572768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训练模型｜严格 5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1581912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EF5B5B"/>
                </a:solidFill>
                <a:latin typeface="宋体"/>
                <a:ea typeface="宋体"/>
                <a:cs typeface="宋体"/>
              </a:rPr>
              <a:t>类别顺序不可变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1938528"/>
            <a:ext cx="416052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" y="1938528"/>
            <a:ext cx="54864" cy="475488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2029968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normal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6664" y="2029968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正常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" y="2468880"/>
            <a:ext cx="416052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" y="2468880"/>
            <a:ext cx="54864" cy="475488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2560320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F5B5B"/>
                </a:solidFill>
                <a:latin typeface="宋体"/>
                <a:ea typeface="宋体"/>
                <a:cs typeface="宋体"/>
              </a:rPr>
              <a:t>broken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6664" y="2560320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破损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" y="2999232"/>
            <a:ext cx="416052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" y="2999232"/>
            <a:ext cx="54864" cy="475488"/>
          </a:xfrm>
          <a:prstGeom prst="rect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3090672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3A11A"/>
                </a:solidFill>
                <a:latin typeface="宋体"/>
                <a:ea typeface="宋体"/>
                <a:cs typeface="宋体"/>
              </a:rPr>
              <a:t>crack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26664" y="3090672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裂纹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" y="3529584"/>
            <a:ext cx="416052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6384" y="3529584"/>
            <a:ext cx="54864" cy="475488"/>
          </a:xfrm>
          <a:prstGeom prst="rect">
            <a:avLst/>
          </a:prstGeom>
          <a:solidFill>
            <a:srgbClr val="7A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3621024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78E8"/>
                </a:solidFill>
                <a:latin typeface="宋体"/>
                <a:ea typeface="宋体"/>
                <a:cs typeface="宋体"/>
              </a:rPr>
              <a:t>pollution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26664" y="3621024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污秽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" y="4059935"/>
            <a:ext cx="416052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6384" y="4059935"/>
            <a:ext cx="54864" cy="475488"/>
          </a:xfrm>
          <a:prstGeom prst="rect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4151375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3AE86"/>
                </a:solidFill>
                <a:latin typeface="宋体"/>
                <a:ea typeface="宋体"/>
                <a:cs typeface="宋体"/>
              </a:rPr>
              <a:t>missing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26664" y="4151375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缺失</a:t>
            </a:r>
          </a:p>
        </p:txBody>
      </p:sp>
      <p:sp>
        <p:nvSpPr>
          <p:cNvPr id="40" name="Oval 39"/>
          <p:cNvSpPr/>
          <p:nvPr/>
        </p:nvSpPr>
        <p:spPr>
          <a:xfrm>
            <a:off x="5266944" y="2542032"/>
            <a:ext cx="603504" cy="603504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85232" y="3227832"/>
            <a:ext cx="56692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→</a:t>
            </a:r>
          </a:p>
        </p:txBody>
      </p:sp>
      <p:sp>
        <p:nvSpPr>
          <p:cNvPr id="42" name="Oval 41"/>
          <p:cNvSpPr/>
          <p:nvPr/>
        </p:nvSpPr>
        <p:spPr>
          <a:xfrm>
            <a:off x="5266944" y="3694176"/>
            <a:ext cx="603504" cy="603504"/>
          </a:xfrm>
          <a:prstGeom prst="ellipse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89320" y="1353312"/>
            <a:ext cx="5641848" cy="3511296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1591056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业务报告｜6 类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91072" y="1965960"/>
            <a:ext cx="1344168" cy="310896"/>
          </a:xfrm>
          <a:prstGeom prst="roundRect">
            <a:avLst/>
          </a:prstGeom>
          <a:solidFill>
            <a:srgbClr val="12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normal 正常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44968" y="1965960"/>
            <a:ext cx="1344168" cy="310896"/>
          </a:xfrm>
          <a:prstGeom prst="roundRect">
            <a:avLst/>
          </a:prstGeom>
          <a:solidFill>
            <a:srgbClr val="46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broken 破损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98864" y="1965960"/>
            <a:ext cx="1344168" cy="310896"/>
          </a:xfrm>
          <a:prstGeom prst="roundRect">
            <a:avLst/>
          </a:prstGeom>
          <a:solidFill>
            <a:srgbClr val="443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crack 裂纹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91072" y="2395728"/>
            <a:ext cx="1344168" cy="310896"/>
          </a:xfrm>
          <a:prstGeom prst="roundRect">
            <a:avLst/>
          </a:prstGeom>
          <a:solidFill>
            <a:srgbClr val="2D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pollution 污秽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44968" y="2395728"/>
            <a:ext cx="1344168" cy="310896"/>
          </a:xfrm>
          <a:prstGeom prst="roundRect">
            <a:avLst/>
          </a:prstGeom>
          <a:solidFill>
            <a:srgbClr val="163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missing 缺失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98864" y="2395728"/>
            <a:ext cx="1463040" cy="310896"/>
          </a:xfrm>
          <a:prstGeom prst="roundRect">
            <a:avLst/>
          </a:prstGeom>
          <a:solidFill>
            <a:srgbClr val="4B2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3A11A"/>
                </a:solidFill>
                <a:latin typeface="宋体"/>
                <a:ea typeface="宋体"/>
                <a:cs typeface="宋体"/>
              </a:rPr>
              <a:t>flashover 闪络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1072" y="3035808"/>
            <a:ext cx="4892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3A11A"/>
                </a:solidFill>
                <a:latin typeface="宋体"/>
                <a:ea typeface="宋体"/>
                <a:cs typeface="宋体"/>
              </a:rPr>
              <a:t>flashover 不进入训练集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91072" y="3401568"/>
            <a:ext cx="486460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当候选目标对五类的最高置信度低于 flashover_inference_threshold 时，业务层将其作为排除式闪络报告。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1072" y="4206240"/>
            <a:ext cx="48646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保留低置信度与 flashover-inferred 来源标记，便于审计与复核。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0352" y="5102352"/>
            <a:ext cx="1682496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高分辨率画面</a:t>
            </a:r>
          </a:p>
        </p:txBody>
      </p:sp>
      <p:sp>
        <p:nvSpPr>
          <p:cNvPr id="55" name="Chevron 54"/>
          <p:cNvSpPr/>
          <p:nvPr/>
        </p:nvSpPr>
        <p:spPr>
          <a:xfrm>
            <a:off x="2286000" y="5202936"/>
            <a:ext cx="256032" cy="274320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624328" y="5102352"/>
            <a:ext cx="1956816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全图 + 重叠切片</a:t>
            </a:r>
          </a:p>
        </p:txBody>
      </p:sp>
      <p:sp>
        <p:nvSpPr>
          <p:cNvPr id="57" name="Chevron 56"/>
          <p:cNvSpPr/>
          <p:nvPr/>
        </p:nvSpPr>
        <p:spPr>
          <a:xfrm>
            <a:off x="4654296" y="5202936"/>
            <a:ext cx="256032" cy="274320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992624" y="5102352"/>
            <a:ext cx="141732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坐标恢复</a:t>
            </a:r>
          </a:p>
        </p:txBody>
      </p:sp>
      <p:sp>
        <p:nvSpPr>
          <p:cNvPr id="59" name="Chevron 58"/>
          <p:cNvSpPr/>
          <p:nvPr/>
        </p:nvSpPr>
        <p:spPr>
          <a:xfrm>
            <a:off x="6483096" y="5202936"/>
            <a:ext cx="256032" cy="274320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821424" y="5102352"/>
            <a:ext cx="1856231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类别感知 NMS</a:t>
            </a:r>
          </a:p>
        </p:txBody>
      </p:sp>
      <p:sp>
        <p:nvSpPr>
          <p:cNvPr id="61" name="Chevron 60"/>
          <p:cNvSpPr/>
          <p:nvPr/>
        </p:nvSpPr>
        <p:spPr>
          <a:xfrm>
            <a:off x="8750808" y="5202936"/>
            <a:ext cx="256032" cy="274320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089136" y="5102352"/>
            <a:ext cx="1353312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六类结果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30352" y="5833872"/>
            <a:ext cx="11100816" cy="40233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4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EF5B5B"/>
                </a:solidFill>
                <a:latin typeface="宋体"/>
                <a:ea typeface="宋体"/>
                <a:cs typeface="宋体"/>
              </a:rPr>
              <a:t>权重类别不匹配会被标记为未就绪；上传巡检返回 503。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WEB INSPECTION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图片与视频的端到端巡检闭环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从素材上传到报告下载，视频统计以唯一轨迹为单位，避免逐帧重复累计。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05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5 / 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353312"/>
            <a:ext cx="6473952" cy="4462272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1572768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任务处理流程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1938528"/>
            <a:ext cx="1965960" cy="1298448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2084832"/>
            <a:ext cx="310896" cy="310896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2093976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上传媒体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2514600"/>
            <a:ext cx="16276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jpg / png / bmp
mp4 / avi / mov / mkv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07208" y="1938528"/>
            <a:ext cx="1965960" cy="1298448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53512" y="2084832"/>
            <a:ext cx="310896" cy="310896"/>
          </a:xfrm>
          <a:prstGeom prst="ellipse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2093976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多尺度推理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2514600"/>
            <a:ext cx="16276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全图检测 + 重叠切片
强化远距离小目标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28032" y="1938528"/>
            <a:ext cx="1965960" cy="1298448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74336" y="2084832"/>
            <a:ext cx="310896" cy="310896"/>
          </a:xfrm>
          <a:prstGeom prst="ellipse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6672" y="2093976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检测融合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2624" y="2514600"/>
            <a:ext cx="16276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切片框恢复到原图
类别感知 NMS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" y="3703320"/>
            <a:ext cx="1965960" cy="1298448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2688" y="3849624"/>
            <a:ext cx="310896" cy="310896"/>
          </a:xfrm>
          <a:prstGeom prst="ellipse">
            <a:avLst/>
          </a:prstGeom>
          <a:solidFill>
            <a:srgbClr val="7A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5024" y="3858768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视频跟踪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4279392"/>
            <a:ext cx="16276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类别一致 IoU 关联
维护 Track 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07208" y="3703320"/>
            <a:ext cx="1965960" cy="1298448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53512" y="3849624"/>
            <a:ext cx="310896" cy="310896"/>
          </a:xfrm>
          <a:prstGeom prst="ellips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3858768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轨迹计数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4279392"/>
            <a:ext cx="16276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任务期间唯一轨迹
同一目标只计一次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28032" y="3703320"/>
            <a:ext cx="1965960" cy="1298448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974336" y="3849624"/>
            <a:ext cx="310896" cy="310896"/>
          </a:xfrm>
          <a:prstGeom prst="ellipse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6672" y="3858768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结果交付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92624" y="4279392"/>
            <a:ext cx="16276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标注媒体 + 统计
JSON / CSV 报告</a:t>
            </a:r>
          </a:p>
        </p:txBody>
      </p:sp>
      <p:sp>
        <p:nvSpPr>
          <p:cNvPr id="43" name="Chevron 42"/>
          <p:cNvSpPr/>
          <p:nvPr/>
        </p:nvSpPr>
        <p:spPr>
          <a:xfrm>
            <a:off x="2523744" y="2441448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evron 43"/>
          <p:cNvSpPr/>
          <p:nvPr/>
        </p:nvSpPr>
        <p:spPr>
          <a:xfrm>
            <a:off x="4544568" y="2441448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5806440" y="3273552"/>
            <a:ext cx="0" cy="320040"/>
          </a:xfrm>
          <a:prstGeom prst="line">
            <a:avLst/>
          </a:prstGeom>
          <a:ln w="20320">
            <a:solidFill>
              <a:srgbClr val="19C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hevron 45"/>
          <p:cNvSpPr/>
          <p:nvPr/>
        </p:nvSpPr>
        <p:spPr>
          <a:xfrm>
            <a:off x="2523744" y="4206240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vron 46"/>
          <p:cNvSpPr/>
          <p:nvPr/>
        </p:nvSpPr>
        <p:spPr>
          <a:xfrm>
            <a:off x="4544568" y="4206240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232904" y="1353312"/>
            <a:ext cx="4398264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79" y="1600200"/>
            <a:ext cx="1280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实时统计</a:t>
            </a:r>
          </a:p>
        </p:txBody>
      </p:sp>
      <p:sp>
        <p:nvSpPr>
          <p:cNvPr id="50" name="Oval 49"/>
          <p:cNvSpPr/>
          <p:nvPr/>
        </p:nvSpPr>
        <p:spPr>
          <a:xfrm>
            <a:off x="7498079" y="2011679"/>
            <a:ext cx="109728" cy="109728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54112" y="1984248"/>
            <a:ext cx="34747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处理 FPS</a:t>
            </a:r>
          </a:p>
        </p:txBody>
      </p:sp>
      <p:sp>
        <p:nvSpPr>
          <p:cNvPr id="52" name="Oval 51"/>
          <p:cNvSpPr/>
          <p:nvPr/>
        </p:nvSpPr>
        <p:spPr>
          <a:xfrm>
            <a:off x="7498079" y="2359151"/>
            <a:ext cx="109728" cy="109728"/>
          </a:xfrm>
          <a:prstGeom prst="ellipse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4112" y="2331720"/>
            <a:ext cx="34747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检测总数 / 六类数量</a:t>
            </a:r>
          </a:p>
        </p:txBody>
      </p:sp>
      <p:sp>
        <p:nvSpPr>
          <p:cNvPr id="54" name="Oval 53"/>
          <p:cNvSpPr/>
          <p:nvPr/>
        </p:nvSpPr>
        <p:spPr>
          <a:xfrm>
            <a:off x="7498079" y="2706623"/>
            <a:ext cx="109728" cy="109728"/>
          </a:xfrm>
          <a:prstGeom prst="ellipse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54112" y="2679191"/>
            <a:ext cx="34747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平均置信度</a:t>
            </a:r>
          </a:p>
        </p:txBody>
      </p:sp>
      <p:sp>
        <p:nvSpPr>
          <p:cNvPr id="56" name="Oval 55"/>
          <p:cNvSpPr/>
          <p:nvPr/>
        </p:nvSpPr>
        <p:spPr>
          <a:xfrm>
            <a:off x="7498079" y="3054096"/>
            <a:ext cx="109728" cy="109728"/>
          </a:xfrm>
          <a:prstGeom prst="ellipse">
            <a:avLst/>
          </a:prstGeom>
          <a:solidFill>
            <a:srgbClr val="7A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54112" y="3026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每帧检测与 Track ID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32904" y="3749039"/>
            <a:ext cx="4398264" cy="1444752"/>
          </a:xfrm>
          <a:prstGeom prst="roundRect">
            <a:avLst/>
          </a:prstGeom>
          <a:solidFill>
            <a:srgbClr val="EAF7F2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79" y="3977639"/>
            <a:ext cx="1280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3AE86"/>
                </a:solidFill>
                <a:latin typeface="宋体"/>
                <a:ea typeface="宋体"/>
                <a:cs typeface="宋体"/>
              </a:rPr>
              <a:t>审计与下载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4352544"/>
            <a:ext cx="382219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JSON：后端类型、帧数、耗时、逐帧 bbox / class / confidence / track_id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4764024"/>
            <a:ext cx="3822191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CSV：检测数量、六类统计、平均置信度与 FPS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30352" y="5980176"/>
            <a:ext cx="11100816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inspection_results/web/inspection_&lt;UTC时间&gt;_&lt;随机ID&gt;/    ·    /api/jobs/{job_id}/{artifact}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MODEL ARTIFACTS &amp; RELEASE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已有基线结果与新版本上线门槛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以下指标来自 CPLID 同源固定划分的双类别缺片基线，不等同于五类 Web 权重的现场验收。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06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6 / 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353312"/>
            <a:ext cx="5559552" cy="4096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1499616"/>
            <a:ext cx="5266944" cy="36118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76656" y="4690872"/>
            <a:ext cx="5266944" cy="420624"/>
          </a:xfrm>
          <a:prstGeom prst="rect">
            <a:avLst/>
          </a:prstGeom>
          <a:solidFill>
            <a:srgbClr val="07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754880"/>
            <a:ext cx="49377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现有真实域缺片检测基线｜CPLID 固定划分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353312"/>
            <a:ext cx="2395728" cy="960120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353312"/>
            <a:ext cx="54864" cy="960120"/>
          </a:xfrm>
          <a:prstGeom prst="rect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1463040"/>
            <a:ext cx="1901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0.980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1929384"/>
            <a:ext cx="19019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missing_disc mAP50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51392" y="1353312"/>
            <a:ext cx="2395728" cy="960120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51392" y="1353312"/>
            <a:ext cx="54864" cy="96012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1463040"/>
            <a:ext cx="1901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0.914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929384"/>
            <a:ext cx="19019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missing_disc Precision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450592"/>
            <a:ext cx="2395728" cy="960120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450592"/>
            <a:ext cx="54864" cy="960120"/>
          </a:xfrm>
          <a:prstGeom prst="rect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2560320"/>
            <a:ext cx="1901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0.960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3026664"/>
            <a:ext cx="19019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missing_disc Recall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51392" y="2450592"/>
            <a:ext cx="2395728" cy="960120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51392" y="2450592"/>
            <a:ext cx="54864" cy="960120"/>
          </a:xfrm>
          <a:prstGeom prst="rect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2560320"/>
            <a:ext cx="1901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0.530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3026664"/>
            <a:ext cx="19019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两类平均 mAP50-95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3547872"/>
            <a:ext cx="4937760" cy="1901952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3767328"/>
            <a:ext cx="3108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五类 Web 权重上线门槛</a:t>
            </a:r>
          </a:p>
        </p:txBody>
      </p:sp>
      <p:sp>
        <p:nvSpPr>
          <p:cNvPr id="39" name="Oval 38"/>
          <p:cNvSpPr/>
          <p:nvPr/>
        </p:nvSpPr>
        <p:spPr>
          <a:xfrm>
            <a:off x="6565392" y="4151376"/>
            <a:ext cx="182880" cy="182880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48856" y="4133088"/>
            <a:ext cx="40965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names 顺序严格为 normal / broken / crack / pollution / missing</a:t>
            </a:r>
          </a:p>
        </p:txBody>
      </p:sp>
      <p:sp>
        <p:nvSpPr>
          <p:cNvPr id="41" name="Oval 40"/>
          <p:cNvSpPr/>
          <p:nvPr/>
        </p:nvSpPr>
        <p:spPr>
          <a:xfrm>
            <a:off x="6565392" y="4443984"/>
            <a:ext cx="182880" cy="182880"/>
          </a:xfrm>
          <a:prstGeom prst="ellipse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8856" y="4425696"/>
            <a:ext cx="40965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独立真实测试集逐类 AP、Recall、mAP50-95 与混淆矩阵</a:t>
            </a:r>
          </a:p>
        </p:txBody>
      </p:sp>
      <p:sp>
        <p:nvSpPr>
          <p:cNvPr id="43" name="Oval 42"/>
          <p:cNvSpPr/>
          <p:nvPr/>
        </p:nvSpPr>
        <p:spPr>
          <a:xfrm>
            <a:off x="6565392" y="4736592"/>
            <a:ext cx="182880" cy="182880"/>
          </a:xfrm>
          <a:prstGeom prst="ellipse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48856" y="4718304"/>
            <a:ext cx="40965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独立闪络案例验证排除式阈值的误报率与漏报率</a:t>
            </a:r>
          </a:p>
        </p:txBody>
      </p:sp>
      <p:sp>
        <p:nvSpPr>
          <p:cNvPr id="45" name="Oval 44"/>
          <p:cNvSpPr/>
          <p:nvPr/>
        </p:nvSpPr>
        <p:spPr>
          <a:xfrm>
            <a:off x="6565392" y="5029200"/>
            <a:ext cx="182880" cy="182880"/>
          </a:xfrm>
          <a:prstGeom prst="ellipse">
            <a:avLst/>
          </a:prstGeom>
          <a:solidFill>
            <a:srgbClr val="7A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48856" y="5010912"/>
            <a:ext cx="40965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每个剪枝比例重验精度、大小、延迟与吞吐后再发布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0352" y="5724144"/>
            <a:ext cx="11100816" cy="530352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F2D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上线标准：召回与 AP + 模型大小 + 单帧延迟 + 吞吐；不以单一体积或同源指标做结论。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WEB UI &amp; REPORT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Web 巡检界面与报告交付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前端实图后续补入；当前已按最终版式预留主界面、跟踪结果与报告截图位置。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11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11 / 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353312"/>
            <a:ext cx="6931152" cy="4462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7DD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0352" y="1353312"/>
            <a:ext cx="6931152" cy="329184"/>
          </a:xfrm>
          <a:prstGeom prst="roundRect">
            <a:avLst/>
          </a:prstGeom>
          <a:solidFill>
            <a:srgbClr val="EA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6656" y="1472184"/>
            <a:ext cx="73152" cy="73152"/>
          </a:xfrm>
          <a:prstGeom prst="ellips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59536" y="1472184"/>
            <a:ext cx="73152" cy="73152"/>
          </a:xfrm>
          <a:prstGeom prst="ellipse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1042416" y="1472184"/>
            <a:ext cx="73152" cy="73152"/>
          </a:xfrm>
          <a:prstGeom prst="ellipse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19" y="1938528"/>
            <a:ext cx="1386230" cy="3621024"/>
          </a:xfrm>
          <a:prstGeom prst="roundRect">
            <a:avLst/>
          </a:prstGeom>
          <a:solidFill>
            <a:srgbClr val="07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63140" y="1947672"/>
            <a:ext cx="4851806" cy="493776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63140" y="2633472"/>
            <a:ext cx="4851806" cy="2889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227466"/>
            <a:ext cx="6199632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待替换：前端主界面截图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807561"/>
            <a:ext cx="619963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上传区域 · 实时统计 · 标注媒体 · 六类数量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99248" y="1353312"/>
            <a:ext cx="39319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7DD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99248" y="1353312"/>
            <a:ext cx="3931920" cy="329184"/>
          </a:xfrm>
          <a:prstGeom prst="roundRect">
            <a:avLst/>
          </a:prstGeom>
          <a:solidFill>
            <a:srgbClr val="EA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845552" y="1472184"/>
            <a:ext cx="73152" cy="73152"/>
          </a:xfrm>
          <a:prstGeom prst="ellips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8028431" y="1472184"/>
            <a:ext cx="73152" cy="73152"/>
          </a:xfrm>
          <a:prstGeom prst="ellipse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1472184"/>
            <a:ext cx="73152" cy="73152"/>
          </a:xfrm>
          <a:prstGeom prst="ellipse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1920240"/>
            <a:ext cx="2201875" cy="1298448"/>
          </a:xfrm>
          <a:prstGeom prst="roundRect">
            <a:avLst/>
          </a:prstGeom>
          <a:solidFill>
            <a:srgbClr val="EDF2F6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76357" y="1920240"/>
            <a:ext cx="1179575" cy="438912"/>
          </a:xfrm>
          <a:prstGeom prst="roundRect">
            <a:avLst/>
          </a:prstGeom>
          <a:solidFill>
            <a:srgbClr val="E8F8F8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176357" y="2487168"/>
            <a:ext cx="1179575" cy="438912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5008" y="2236622"/>
            <a:ext cx="32004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待替换：检测 / 跟踪截图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2510028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边界框 · 类别 · 置信度 · Track ID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99248" y="3712463"/>
            <a:ext cx="39319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7DD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99248" y="3712463"/>
            <a:ext cx="3931920" cy="329184"/>
          </a:xfrm>
          <a:prstGeom prst="roundRect">
            <a:avLst/>
          </a:prstGeom>
          <a:solidFill>
            <a:srgbClr val="EA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845552" y="3831335"/>
            <a:ext cx="73152" cy="73152"/>
          </a:xfrm>
          <a:prstGeom prst="ellips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40" name="Oval 39"/>
          <p:cNvSpPr/>
          <p:nvPr/>
        </p:nvSpPr>
        <p:spPr>
          <a:xfrm>
            <a:off x="8028431" y="3831335"/>
            <a:ext cx="73152" cy="73152"/>
          </a:xfrm>
          <a:prstGeom prst="ellipse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41" name="Oval 40"/>
          <p:cNvSpPr/>
          <p:nvPr/>
        </p:nvSpPr>
        <p:spPr>
          <a:xfrm>
            <a:off x="8211312" y="3831335"/>
            <a:ext cx="73152" cy="73152"/>
          </a:xfrm>
          <a:prstGeom prst="ellipse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09560" y="4279392"/>
            <a:ext cx="1651406" cy="1298448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743846" y="4279392"/>
            <a:ext cx="1612087" cy="1298448"/>
          </a:xfrm>
          <a:prstGeom prst="roundRect">
            <a:avLst/>
          </a:prstGeom>
          <a:solidFill>
            <a:srgbClr val="EAF7F2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10144" y="4553712"/>
            <a:ext cx="9436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JSON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97719" y="4553712"/>
            <a:ext cx="9436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3AE86"/>
                </a:solidFill>
                <a:latin typeface="宋体"/>
                <a:ea typeface="宋体"/>
                <a:cs typeface="宋体"/>
              </a:rPr>
              <a:t>CSV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5008" y="4595774"/>
            <a:ext cx="32004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待替换：JSON / CSV 报告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65008" y="4869179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任务信息 · 类别统计 · 逐帧审计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6016752"/>
            <a:ext cx="1110081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收到前端图片后仅替换占位图，不改变本页结构与全篇风格。</a:t>
            </a:r>
          </a:p>
        </p:txBody>
      </p:sp>
    </p:spTree>
    <p:extLst>
      <p:ext uri="{BB962C8B-B14F-4D97-AF65-F5344CB8AC3E}">
        <p14:creationId xmlns:p14="http://schemas.microsoft.com/office/powerpoint/2010/main" val="4026112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LIMITATIONS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当前边界与下一阶段路线图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工程严谨性不仅是给出能力，更要说明能力如何得到验证、在什么条件下成立。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12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12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1353312"/>
            <a:ext cx="2880360" cy="384048"/>
          </a:xfrm>
          <a:prstGeom prst="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当前边界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0712" y="1353312"/>
            <a:ext cx="3337560" cy="384048"/>
          </a:xfrm>
          <a:prstGeom prst="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可能影响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8272" y="1353312"/>
            <a:ext cx="4882896" cy="384048"/>
          </a:xfrm>
          <a:prstGeom prst="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下一阶段改进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1737360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真实多类数据尚未齐备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10712" y="1737360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broken / crack / pollution 的真实训练覆盖不足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48272" y="1737360"/>
            <a:ext cx="488289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引入授权、可追溯且已标注的数据；按线路、批次或视频片段划分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2395728"/>
            <a:ext cx="2880360" cy="658368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flashover 为排除式报告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10712" y="2395728"/>
            <a:ext cx="3337560" cy="658368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并非模型训练类，阈值可能带来误报与漏报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48272" y="2395728"/>
            <a:ext cx="4882896" cy="658368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以独立闪络案例验证阈值；保留低置信度与来源标记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3054096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五类权重需要严格验收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10712" y="3054096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类别顺序不符返回 503；现场效果尚未证明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48272" y="3054096"/>
            <a:ext cx="488289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逐类 AP / Recall / 混淆矩阵，并开展外部现场验证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3712464"/>
            <a:ext cx="2880360" cy="658368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已有指标来自同源固定划分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10712" y="3712464"/>
            <a:ext cx="3337560" cy="658368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可能高估跨地区、相机、天气和线路泛化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48272" y="3712464"/>
            <a:ext cx="4882896" cy="658368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跨线路、跨设备、跨天气测试与现场飞行验收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4370831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端侧部署尚未验证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0712" y="4370831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功耗、稳定性、延迟与实际吞吐仍未知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48272" y="4370831"/>
            <a:ext cx="488289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结构化剪枝 + ONNX / TensorRT / OpenVINO / INT8 压测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" y="5248656"/>
            <a:ext cx="11100816" cy="82296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2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546811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5B5B"/>
                </a:solidFill>
                <a:latin typeface="宋体"/>
                <a:ea typeface="宋体"/>
                <a:cs typeface="宋体"/>
              </a:rPr>
              <a:t>当前定位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376672"/>
            <a:ext cx="940003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Web 与 ROS 链路、报告和追溯机制可运行；业务上线仍依赖五类真实数据、独立验收集与现场专业复核。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" y="6108192"/>
            <a:ext cx="2011680" cy="310896"/>
          </a:xfrm>
          <a:prstGeom prst="roundRect">
            <a:avLst/>
          </a:prstGeom>
          <a:solidFill>
            <a:srgbClr val="EA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补齐真实多类数据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06624" y="6108192"/>
            <a:ext cx="1755648" cy="310896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F3A11A"/>
                </a:solidFill>
                <a:latin typeface="宋体"/>
                <a:ea typeface="宋体"/>
                <a:cs typeface="宋体"/>
              </a:rPr>
              <a:t>验证闪络阈值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26864" y="6108192"/>
            <a:ext cx="1755648" cy="310896"/>
          </a:xfrm>
          <a:prstGeom prst="roundRect">
            <a:avLst/>
          </a:prstGeom>
          <a:solidFill>
            <a:srgbClr val="E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23AE86"/>
                </a:solidFill>
                <a:latin typeface="宋体"/>
                <a:ea typeface="宋体"/>
                <a:cs typeface="宋体"/>
              </a:rPr>
              <a:t>完成外部测试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47104" y="6108192"/>
            <a:ext cx="1965960" cy="310896"/>
          </a:xfrm>
          <a:prstGeom prst="roundRect">
            <a:avLst/>
          </a:prstGeom>
          <a:solidFill>
            <a:srgbClr val="F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7A78E8"/>
                </a:solidFill>
                <a:latin typeface="宋体"/>
                <a:ea typeface="宋体"/>
                <a:cs typeface="宋体"/>
              </a:rPr>
              <a:t>端侧优化与压测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77656" y="6108192"/>
            <a:ext cx="1755648" cy="310896"/>
          </a:xfrm>
          <a:prstGeom prst="roundRect">
            <a:avLst/>
          </a:prstGeom>
          <a:solidFill>
            <a:srgbClr val="E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替换前端实图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YOLO FINE-TUNING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从基线到发布：YOLO 微调优化闭环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固定数据划分与评估口径，逐项验证数据、结构与推理优化，确保收益可复现、可归因。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07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7 / 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353312"/>
            <a:ext cx="11100816" cy="2011680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1490472"/>
            <a:ext cx="182880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9C6D4"/>
                </a:solidFill>
                <a:latin typeface="宋体"/>
              </a:rPr>
              <a:t>单变量推进｜5 个关口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1792224"/>
            <a:ext cx="1746504" cy="1216152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1920240"/>
            <a:ext cx="329184" cy="329184"/>
          </a:xfrm>
          <a:prstGeom prst="round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宋体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1901952"/>
            <a:ext cx="1042415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宋体"/>
              </a:rPr>
              <a:t>数据审计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304288"/>
            <a:ext cx="14630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AFC0CE"/>
                </a:solidFill>
                <a:latin typeface="宋体"/>
              </a:rPr>
              <a:t>类别 / 框尺度
重复与划分泄漏</a:t>
            </a:r>
          </a:p>
        </p:txBody>
      </p:sp>
      <p:sp>
        <p:nvSpPr>
          <p:cNvPr id="23" name="Chevron 22"/>
          <p:cNvSpPr/>
          <p:nvPr/>
        </p:nvSpPr>
        <p:spPr>
          <a:xfrm>
            <a:off x="2606040" y="2267712"/>
            <a:ext cx="201168" cy="256032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07792" y="1792224"/>
            <a:ext cx="1746504" cy="1216152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035808" y="1920240"/>
            <a:ext cx="329184" cy="329184"/>
          </a:xfrm>
          <a:prstGeom prst="roundRect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宋体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8144" y="1901952"/>
            <a:ext cx="1042415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宋体"/>
              </a:rPr>
              <a:t>基线复现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35808" y="2304288"/>
            <a:ext cx="14630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AFC0CE"/>
                </a:solidFill>
                <a:latin typeface="宋体"/>
              </a:rPr>
              <a:t>预训练权重
固定 split / seed</a:t>
            </a:r>
          </a:p>
        </p:txBody>
      </p:sp>
      <p:sp>
        <p:nvSpPr>
          <p:cNvPr id="28" name="Chevron 27"/>
          <p:cNvSpPr/>
          <p:nvPr/>
        </p:nvSpPr>
        <p:spPr>
          <a:xfrm>
            <a:off x="4727448" y="2267712"/>
            <a:ext cx="201168" cy="256032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0" y="1792224"/>
            <a:ext cx="1746504" cy="1216152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57216" y="1920240"/>
            <a:ext cx="329184" cy="329184"/>
          </a:xfrm>
          <a:prstGeom prst="roundRect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宋体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9552" y="1901952"/>
            <a:ext cx="1042415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宋体"/>
              </a:rPr>
              <a:t>单项改动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7216" y="2304288"/>
            <a:ext cx="14630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AFC0CE"/>
                </a:solidFill>
                <a:latin typeface="宋体"/>
              </a:rPr>
              <a:t>分辨率 → P2
→ CA → 切片</a:t>
            </a:r>
          </a:p>
        </p:txBody>
      </p:sp>
      <p:sp>
        <p:nvSpPr>
          <p:cNvPr id="33" name="Chevron 32"/>
          <p:cNvSpPr/>
          <p:nvPr/>
        </p:nvSpPr>
        <p:spPr>
          <a:xfrm>
            <a:off x="6848856" y="2267712"/>
            <a:ext cx="201168" cy="256032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50608" y="1792224"/>
            <a:ext cx="1746504" cy="1216152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78624" y="1920240"/>
            <a:ext cx="329184" cy="329184"/>
          </a:xfrm>
          <a:prstGeom prst="roundRect">
            <a:avLst/>
          </a:prstGeom>
          <a:solidFill>
            <a:srgbClr val="7A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宋体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1901952"/>
            <a:ext cx="1042415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宋体"/>
              </a:rPr>
              <a:t>消融验证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8624" y="2304288"/>
            <a:ext cx="14630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AFC0CE"/>
                </a:solidFill>
                <a:latin typeface="宋体"/>
              </a:rPr>
              <a:t>AP_small / Recall
FP / latency</a:t>
            </a:r>
          </a:p>
        </p:txBody>
      </p:sp>
      <p:sp>
        <p:nvSpPr>
          <p:cNvPr id="38" name="Chevron 37"/>
          <p:cNvSpPr/>
          <p:nvPr/>
        </p:nvSpPr>
        <p:spPr>
          <a:xfrm>
            <a:off x="8970264" y="2267712"/>
            <a:ext cx="201168" cy="256032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272016" y="1792224"/>
            <a:ext cx="1746504" cy="1216152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00032" y="1920240"/>
            <a:ext cx="329184" cy="329184"/>
          </a:xfrm>
          <a:prstGeom prst="roundRect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宋体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02368" y="1901952"/>
            <a:ext cx="1042415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宋体"/>
              </a:rPr>
              <a:t>发布门槛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0032" y="2304288"/>
            <a:ext cx="14630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AFC0CE"/>
                </a:solidFill>
                <a:latin typeface="宋体"/>
              </a:rPr>
              <a:t>精度 + 速度
体积 + 可追溯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0352" y="3584448"/>
            <a:ext cx="6784848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" y="3785615"/>
            <a:ext cx="237744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7DDF"/>
                </a:solidFill>
                <a:latin typeface="宋体"/>
              </a:rPr>
              <a:t>三段式训练节奏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8096" y="4187952"/>
            <a:ext cx="1810512" cy="1417320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" y="4315968"/>
            <a:ext cx="1536192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47DDF"/>
                </a:solidFill>
                <a:latin typeface="宋体"/>
              </a:rPr>
              <a:t>WARM-UP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4535424"/>
            <a:ext cx="1536192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A2035"/>
                </a:solidFill>
                <a:latin typeface="宋体"/>
              </a:rPr>
              <a:t>0–3 epoch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4892040"/>
            <a:ext cx="1536192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63798C"/>
                </a:solidFill>
                <a:latin typeface="宋体"/>
              </a:rPr>
              <a:t>稳定学习率与梯度
小数据可选冻结骨干</a:t>
            </a:r>
          </a:p>
        </p:txBody>
      </p:sp>
      <p:sp>
        <p:nvSpPr>
          <p:cNvPr id="49" name="Chevron 48"/>
          <p:cNvSpPr/>
          <p:nvPr/>
        </p:nvSpPr>
        <p:spPr>
          <a:xfrm>
            <a:off x="2633472" y="4727448"/>
            <a:ext cx="201168" cy="256032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907792" y="4187952"/>
            <a:ext cx="1810512" cy="1417320"/>
          </a:xfrm>
          <a:prstGeom prst="roundRect">
            <a:avLst/>
          </a:prstGeom>
          <a:solidFill>
            <a:srgbClr val="E8F8F8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44952" y="4315968"/>
            <a:ext cx="1536192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9C6D4"/>
                </a:solidFill>
                <a:latin typeface="宋体"/>
              </a:rPr>
              <a:t>MAIN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44952" y="4535424"/>
            <a:ext cx="1536192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A2035"/>
                </a:solidFill>
                <a:latin typeface="宋体"/>
              </a:rPr>
              <a:t>主体训练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44952" y="4892040"/>
            <a:ext cx="1536192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63798C"/>
                </a:solidFill>
                <a:latin typeface="宋体"/>
              </a:rPr>
              <a:t>全网络 + cos_lr
patience=15 早停</a:t>
            </a:r>
          </a:p>
        </p:txBody>
      </p:sp>
      <p:sp>
        <p:nvSpPr>
          <p:cNvPr id="54" name="Chevron 53"/>
          <p:cNvSpPr/>
          <p:nvPr/>
        </p:nvSpPr>
        <p:spPr>
          <a:xfrm>
            <a:off x="4773168" y="4727448"/>
            <a:ext cx="201168" cy="256032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047488" y="4187952"/>
            <a:ext cx="1810512" cy="1417320"/>
          </a:xfrm>
          <a:prstGeom prst="roundRect">
            <a:avLst/>
          </a:prstGeom>
          <a:solidFill>
            <a:srgbClr val="EAF7F2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84648" y="4315968"/>
            <a:ext cx="1536192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3AE86"/>
                </a:solidFill>
                <a:latin typeface="宋体"/>
              </a:rPr>
              <a:t>CALIBRATE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4648" y="4535424"/>
            <a:ext cx="1536192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A2035"/>
                </a:solidFill>
                <a:latin typeface="宋体"/>
              </a:rPr>
              <a:t>最后 10 epoch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84648" y="4892040"/>
            <a:ext cx="1536192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63798C"/>
                </a:solidFill>
                <a:latin typeface="宋体"/>
              </a:rPr>
              <a:t>close_mosaic=10
收敛到真实图像分布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34656" y="3584448"/>
            <a:ext cx="4096512" cy="2450592"/>
          </a:xfrm>
          <a:prstGeom prst="roundRect">
            <a:avLst/>
          </a:prstGeom>
          <a:solidFill>
            <a:srgbClr val="EAF7F2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0" y="3785615"/>
            <a:ext cx="256032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3AE86"/>
                </a:solidFill>
                <a:latin typeface="宋体"/>
              </a:rPr>
              <a:t>必须固化的实验指纹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0" y="4233672"/>
            <a:ext cx="530352" cy="274320"/>
          </a:xfrm>
          <a:prstGeom prst="roundRect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宋体"/>
              </a:rPr>
              <a:t>数据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30768" y="4224528"/>
            <a:ext cx="278892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0A2035"/>
                </a:solidFill>
                <a:latin typeface="宋体"/>
              </a:rPr>
              <a:t>data.yaml、划分清单与数据哈希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72400" y="4626864"/>
            <a:ext cx="530352" cy="274320"/>
          </a:xfrm>
          <a:prstGeom prst="roundRect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宋体"/>
              </a:rPr>
              <a:t>模型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0768" y="4617720"/>
            <a:ext cx="278892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0A2035"/>
                </a:solidFill>
                <a:latin typeface="宋体"/>
              </a:rPr>
              <a:t>初始 .pt / 模型 YAML / 类别顺序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72400" y="5020055"/>
            <a:ext cx="530352" cy="274320"/>
          </a:xfrm>
          <a:prstGeom prst="roundRect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宋体"/>
              </a:rPr>
              <a:t>参数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30768" y="5010912"/>
            <a:ext cx="278892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0A2035"/>
                </a:solidFill>
                <a:latin typeface="宋体"/>
              </a:rPr>
              <a:t>args.yaml、随机种子、运行环境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772400" y="5413247"/>
            <a:ext cx="530352" cy="274320"/>
          </a:xfrm>
          <a:prstGeom prst="roundRect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宋体"/>
              </a:rPr>
              <a:t>证据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30768" y="5404103"/>
            <a:ext cx="278892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0A2035"/>
                </a:solidFill>
                <a:latin typeface="宋体"/>
              </a:rPr>
              <a:t>逐类指标、曲线、混淆矩阵与权重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0352" y="6163056"/>
            <a:ext cx="11100816" cy="27432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3A11A"/>
                </a:solidFill>
                <a:latin typeface="宋体"/>
              </a:rPr>
              <a:t>决策顺序：先复现 baseline，再一次只改一个变量；验证集用于选择，独立测试集只用于最终报告。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SMALL-OBJECT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小目标优化（一）：尺度分析与重叠切片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先用标注尺度决定是否引入高分辨率分支，再用切片放大小目标；恢复原图坐标后消除重叠检测。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08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8 / 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353312"/>
            <a:ext cx="32735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1572768"/>
            <a:ext cx="2615184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7DDF"/>
                </a:solidFill>
                <a:latin typeface="宋体"/>
              </a:rPr>
              <a:t>01｜先判断“是否真小”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1920240"/>
            <a:ext cx="26517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3798C"/>
                </a:solidFill>
                <a:latin typeface="宋体"/>
              </a:rPr>
              <a:t>analyse_yolo_dataset 扫描标注框，输出尺度分布与结构建议。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2487168"/>
            <a:ext cx="2724912" cy="713232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2596896"/>
            <a:ext cx="71323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47DDF"/>
                </a:solidFill>
                <a:latin typeface="宋体"/>
              </a:rPr>
              <a:t>判定阈值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2560320"/>
            <a:ext cx="155448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0A2035"/>
                </a:solidFill>
                <a:latin typeface="宋体"/>
              </a:rPr>
              <a:t>input_size / 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880360"/>
            <a:ext cx="2322576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3798C"/>
                </a:solidFill>
                <a:latin typeface="宋体"/>
              </a:rPr>
              <a:t>640 输入 → 10 px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" y="3337560"/>
            <a:ext cx="2724912" cy="713232"/>
          </a:xfrm>
          <a:prstGeom prst="roundRect">
            <a:avLst/>
          </a:prstGeom>
          <a:solidFill>
            <a:srgbClr val="E8F8F8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447288"/>
            <a:ext cx="71323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9C6D4"/>
                </a:solidFill>
                <a:latin typeface="宋体"/>
              </a:rPr>
              <a:t>核心统计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0784" y="3410712"/>
            <a:ext cx="155448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0A2035"/>
                </a:solidFill>
                <a:latin typeface="宋体"/>
              </a:rPr>
              <a:t>短边中位数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3730752"/>
            <a:ext cx="2322576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3798C"/>
                </a:solidFill>
                <a:latin typeface="宋体"/>
              </a:rPr>
              <a:t>阈值以下的占比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" y="4187952"/>
            <a:ext cx="2724912" cy="713232"/>
          </a:xfrm>
          <a:prstGeom prst="roundRect">
            <a:avLst/>
          </a:prstGeom>
          <a:solidFill>
            <a:srgbClr val="F0E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297680"/>
            <a:ext cx="71323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7A78E8"/>
                </a:solidFill>
                <a:latin typeface="宋体"/>
              </a:rPr>
              <a:t>形状聚类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261104"/>
            <a:ext cx="155448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0A2035"/>
                </a:solidFill>
                <a:latin typeface="宋体"/>
              </a:rPr>
              <a:t>IoU K-means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581144"/>
            <a:ext cx="2322576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3798C"/>
                </a:solidFill>
                <a:latin typeface="宋体"/>
              </a:rPr>
              <a:t>6 组宽高原型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" y="5093208"/>
            <a:ext cx="2724912" cy="64008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175504"/>
            <a:ext cx="2377440" cy="4023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3A11A"/>
                </a:solidFill>
                <a:latin typeface="宋体"/>
              </a:rPr>
              <a:t>P2 建议：短边中位数 &lt; 阈值
或阈值以下占比 ≥ 20%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5769864"/>
            <a:ext cx="2724912" cy="1554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EF5B5B"/>
                </a:solidFill>
                <a:latin typeface="宋体"/>
              </a:rPr>
              <a:t>尺度需按实际 letterbox / 推理分辨率复核。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23360" y="1353312"/>
            <a:ext cx="7607808" cy="3127248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79392" y="1554480"/>
            <a:ext cx="292608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9C6D4"/>
                </a:solidFill>
                <a:latin typeface="宋体"/>
              </a:rPr>
              <a:t>02｜重叠切片如何落地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15968" y="1920240"/>
            <a:ext cx="2084831" cy="1481328"/>
          </a:xfrm>
          <a:prstGeom prst="rect">
            <a:avLst/>
          </a:prstGeom>
          <a:solidFill>
            <a:srgbClr val="113553"/>
          </a:solidFill>
          <a:ln w="12700">
            <a:solidFill>
              <a:srgbClr val="2C5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4718304" y="2148840"/>
            <a:ext cx="402336" cy="1051560"/>
          </a:xfrm>
          <a:prstGeom prst="line">
            <a:avLst/>
          </a:prstGeom>
          <a:ln w="17780">
            <a:solidFill>
              <a:srgbClr val="AFC0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5120640" y="2148840"/>
            <a:ext cx="429768" cy="1051560"/>
          </a:xfrm>
          <a:prstGeom prst="line">
            <a:avLst/>
          </a:prstGeom>
          <a:ln w="17780">
            <a:solidFill>
              <a:srgbClr val="AFC0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846320" y="2798064"/>
            <a:ext cx="585216" cy="0"/>
          </a:xfrm>
          <a:prstGeom prst="line">
            <a:avLst/>
          </a:prstGeom>
          <a:ln w="12700">
            <a:solidFill>
              <a:srgbClr val="AFC0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946904" y="2523744"/>
            <a:ext cx="374904" cy="0"/>
          </a:xfrm>
          <a:prstGeom prst="line">
            <a:avLst/>
          </a:prstGeom>
          <a:ln w="12700">
            <a:solidFill>
              <a:srgbClr val="AFC0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108204" y="1920240"/>
            <a:ext cx="0" cy="1481328"/>
          </a:xfrm>
          <a:prstGeom prst="line">
            <a:avLst/>
          </a:prstGeom>
          <a:ln w="10160">
            <a:solidFill>
              <a:srgbClr val="19C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775350" y="1920240"/>
            <a:ext cx="0" cy="1481328"/>
          </a:xfrm>
          <a:prstGeom prst="line">
            <a:avLst/>
          </a:prstGeom>
          <a:ln w="10160">
            <a:solidFill>
              <a:srgbClr val="19C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15968" y="2705343"/>
            <a:ext cx="2084832" cy="0"/>
          </a:xfrm>
          <a:prstGeom prst="line">
            <a:avLst/>
          </a:prstGeom>
          <a:ln w="10160">
            <a:solidFill>
              <a:srgbClr val="19C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650992" y="2560320"/>
            <a:ext cx="347472" cy="219456"/>
          </a:xfrm>
          <a:prstGeom prst="rect">
            <a:avLst/>
          </a:prstGeom>
          <a:solidFill>
            <a:srgbClr val="FDEEEE"/>
          </a:solidFill>
          <a:ln w="1270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87568" y="2578608"/>
            <a:ext cx="274320" cy="14630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EF5B5B"/>
                </a:solidFill>
                <a:latin typeface="宋体"/>
              </a:rPr>
              <a:t>tiny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5968" y="3511296"/>
            <a:ext cx="2084831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AFC0CE"/>
                </a:solidFill>
                <a:latin typeface="宋体"/>
              </a:rPr>
              <a:t>高分辨率原图｜边界目标被相邻切片共同观察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56832" y="1938528"/>
            <a:ext cx="1005840" cy="1554480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995160" y="2084831"/>
            <a:ext cx="329184" cy="329184"/>
          </a:xfrm>
          <a:prstGeom prst="round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宋体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9984" y="2523744"/>
            <a:ext cx="859536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宋体"/>
              </a:rPr>
              <a:t>生成窗口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9984" y="2834640"/>
            <a:ext cx="859536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AFC0CE"/>
                </a:solidFill>
                <a:latin typeface="宋体"/>
              </a:rPr>
              <a:t>tile 1024
overlap 20%</a:t>
            </a:r>
          </a:p>
        </p:txBody>
      </p:sp>
      <p:sp>
        <p:nvSpPr>
          <p:cNvPr id="52" name="Chevron 51"/>
          <p:cNvSpPr/>
          <p:nvPr/>
        </p:nvSpPr>
        <p:spPr>
          <a:xfrm>
            <a:off x="7690104" y="2596896"/>
            <a:ext cx="155448" cy="219456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891272" y="1938528"/>
            <a:ext cx="1005840" cy="1554480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229600" y="2084831"/>
            <a:ext cx="329184" cy="329184"/>
          </a:xfrm>
          <a:prstGeom prst="roundRect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宋体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64424" y="2523744"/>
            <a:ext cx="859536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宋体"/>
              </a:rPr>
              <a:t>局部推理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64424" y="2834640"/>
            <a:ext cx="859536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AFC0CE"/>
                </a:solidFill>
                <a:latin typeface="宋体"/>
              </a:rPr>
              <a:t>目标像素
占比提高</a:t>
            </a:r>
          </a:p>
        </p:txBody>
      </p:sp>
      <p:sp>
        <p:nvSpPr>
          <p:cNvPr id="57" name="Chevron 56"/>
          <p:cNvSpPr/>
          <p:nvPr/>
        </p:nvSpPr>
        <p:spPr>
          <a:xfrm>
            <a:off x="8924544" y="2596896"/>
            <a:ext cx="155448" cy="219456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125712" y="1938528"/>
            <a:ext cx="1005840" cy="1554480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464040" y="2084831"/>
            <a:ext cx="329184" cy="329184"/>
          </a:xfrm>
          <a:prstGeom prst="roundRect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宋体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98864" y="2523744"/>
            <a:ext cx="859536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宋体"/>
              </a:rPr>
              <a:t>坐标恢复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98864" y="2834640"/>
            <a:ext cx="859536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AFC0CE"/>
                </a:solidFill>
                <a:latin typeface="宋体"/>
              </a:rPr>
              <a:t>bbox +
(x, y) 偏移</a:t>
            </a:r>
          </a:p>
        </p:txBody>
      </p:sp>
      <p:sp>
        <p:nvSpPr>
          <p:cNvPr id="62" name="Chevron 61"/>
          <p:cNvSpPr/>
          <p:nvPr/>
        </p:nvSpPr>
        <p:spPr>
          <a:xfrm>
            <a:off x="10158984" y="2596896"/>
            <a:ext cx="155448" cy="219456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360152" y="1938528"/>
            <a:ext cx="1005840" cy="1554480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698480" y="2084831"/>
            <a:ext cx="329184" cy="329184"/>
          </a:xfrm>
          <a:prstGeom prst="roundRect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宋体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33304" y="2523744"/>
            <a:ext cx="859536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宋体"/>
              </a:rPr>
              <a:t>同类融合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33304" y="2834640"/>
            <a:ext cx="859536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AFC0CE"/>
                </a:solidFill>
                <a:latin typeface="宋体"/>
              </a:rPr>
              <a:t>IoU 0.55
置信度加权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23360" y="4681728"/>
            <a:ext cx="3675887" cy="1380744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79392" y="4882896"/>
            <a:ext cx="228600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47DDF"/>
                </a:solidFill>
                <a:latin typeface="宋体"/>
              </a:rPr>
              <a:t>WEB：全图 + 切片</a:t>
            </a:r>
          </a:p>
        </p:txBody>
      </p:sp>
      <p:sp>
        <p:nvSpPr>
          <p:cNvPr id="69" name="Oval 68"/>
          <p:cNvSpPr/>
          <p:nvPr/>
        </p:nvSpPr>
        <p:spPr>
          <a:xfrm>
            <a:off x="4297680" y="5303520"/>
            <a:ext cx="91440" cy="91440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98848" y="5230368"/>
            <a:ext cx="2816352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0A2035"/>
                </a:solidFill>
                <a:latin typeface="宋体"/>
              </a:rPr>
              <a:t>高分辨率图像先全图检测，再叠加裁剪结果</a:t>
            </a:r>
          </a:p>
        </p:txBody>
      </p:sp>
      <p:sp>
        <p:nvSpPr>
          <p:cNvPr id="71" name="Oval 70"/>
          <p:cNvSpPr/>
          <p:nvPr/>
        </p:nvSpPr>
        <p:spPr>
          <a:xfrm>
            <a:off x="4297680" y="5650992"/>
            <a:ext cx="91440" cy="91440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98848" y="5577840"/>
            <a:ext cx="2816352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A2035"/>
                </a:solidFill>
                <a:latin typeface="宋体"/>
              </a:rPr>
              <a:t>类别感知 NMS 合并，避免跨类别误抑制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918704" y="4681728"/>
            <a:ext cx="3712463" cy="1380744"/>
          </a:xfrm>
          <a:prstGeom prst="roundRect">
            <a:avLst/>
          </a:prstGeom>
          <a:solidFill>
            <a:srgbClr val="EAF7F2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74736" y="4882896"/>
            <a:ext cx="237744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3AE86"/>
                </a:solidFill>
                <a:latin typeface="宋体"/>
              </a:rPr>
              <a:t>ROS：按需启用切片</a:t>
            </a:r>
          </a:p>
        </p:txBody>
      </p:sp>
      <p:sp>
        <p:nvSpPr>
          <p:cNvPr id="75" name="Oval 74"/>
          <p:cNvSpPr/>
          <p:nvPr/>
        </p:nvSpPr>
        <p:spPr>
          <a:xfrm>
            <a:off x="8193024" y="5303520"/>
            <a:ext cx="91440" cy="91440"/>
          </a:xfrm>
          <a:prstGeom prst="ellipse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94192" y="5230368"/>
            <a:ext cx="28346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0A2035"/>
                </a:solidFill>
                <a:latin typeface="宋体"/>
              </a:rPr>
              <a:t>detector.yaml 默认关闭，远距场景再开启</a:t>
            </a:r>
          </a:p>
        </p:txBody>
      </p:sp>
      <p:sp>
        <p:nvSpPr>
          <p:cNvPr id="77" name="Oval 76"/>
          <p:cNvSpPr/>
          <p:nvPr/>
        </p:nvSpPr>
        <p:spPr>
          <a:xfrm>
            <a:off x="8193024" y="5650992"/>
            <a:ext cx="91440" cy="91440"/>
          </a:xfrm>
          <a:prstGeom prst="ellipse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94192" y="5577840"/>
            <a:ext cx="28346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A2035"/>
                </a:solidFill>
                <a:latin typeface="宋体"/>
              </a:rPr>
              <a:t>同类 WBF：加权坐标，保留组内最高置信度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30352" y="6172200"/>
            <a:ext cx="11100816" cy="256032"/>
          </a:xfrm>
          <a:prstGeom prst="roundRect">
            <a:avLst/>
          </a:prstGeom>
          <a:solidFill>
            <a:srgbClr val="FD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EF5B5B"/>
                </a:solidFill>
                <a:latin typeface="宋体"/>
              </a:rPr>
              <a:t>收益来自“增加目标有效像素”；代价是切片数带来的延迟，因此要同时记录召回提升、FP / 图与 p95 延迟。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SMALL-OBJECT MODEL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小目标优化（二）：P2 + Coordinate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将 stride=4 的浅层高分辨率特征送入检测头，并用方向敏感注意力增强细长目标与缺片位置响应。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09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9 / 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353312"/>
            <a:ext cx="3767328" cy="4727448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1572768"/>
            <a:ext cx="26060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7DDF"/>
                </a:solidFill>
                <a:latin typeface="宋体"/>
              </a:rPr>
              <a:t>P2：保留更细的空间网格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1883664"/>
            <a:ext cx="3127248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3798C"/>
                </a:solidFill>
                <a:latin typeface="宋体"/>
              </a:rPr>
              <a:t>640 输入下，P2 特征图为 160×160；比 P3 多 4 倍网格位置。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157984"/>
            <a:ext cx="2029968" cy="512064"/>
          </a:xfrm>
          <a:prstGeom prst="rect">
            <a:avLst/>
          </a:prstGeom>
          <a:solidFill>
            <a:srgbClr val="071D33"/>
          </a:solidFill>
          <a:ln w="12700">
            <a:solidFill>
              <a:srgbClr val="19C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2221991"/>
            <a:ext cx="749808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9C6D4"/>
                </a:solidFill>
                <a:latin typeface="宋体"/>
              </a:rPr>
              <a:t>P2 /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2221991"/>
            <a:ext cx="1024128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宋体"/>
              </a:rPr>
              <a:t>160 × 160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52928" y="2414015"/>
            <a:ext cx="393192" cy="0"/>
          </a:xfrm>
          <a:prstGeom prst="line">
            <a:avLst/>
          </a:prstGeom>
          <a:ln w="13970">
            <a:solidFill>
              <a:srgbClr val="19C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22960" y="2889504"/>
            <a:ext cx="1783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47D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2953512"/>
            <a:ext cx="749808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47DDF"/>
                </a:solidFill>
                <a:latin typeface="宋体"/>
              </a:rPr>
              <a:t>P3 /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2953512"/>
            <a:ext cx="777239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035"/>
                </a:solidFill>
                <a:latin typeface="宋体"/>
              </a:rPr>
              <a:t>80 × 80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06040" y="3145536"/>
            <a:ext cx="640080" cy="0"/>
          </a:xfrm>
          <a:prstGeom prst="line">
            <a:avLst/>
          </a:prstGeom>
          <a:ln w="13970">
            <a:solidFill>
              <a:srgbClr val="147D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22960" y="3621024"/>
            <a:ext cx="153619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7A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685032"/>
            <a:ext cx="749808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7A78E8"/>
                </a:solidFill>
                <a:latin typeface="宋体"/>
              </a:rPr>
              <a:t>P4 / 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3685032"/>
            <a:ext cx="530351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035"/>
                </a:solidFill>
                <a:latin typeface="宋体"/>
              </a:rPr>
              <a:t>40 × 40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59152" y="3877056"/>
            <a:ext cx="886968" cy="0"/>
          </a:xfrm>
          <a:prstGeom prst="line">
            <a:avLst/>
          </a:prstGeom>
          <a:ln w="13970">
            <a:solidFill>
              <a:srgbClr val="7A7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22960" y="4352544"/>
            <a:ext cx="128930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3A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416552"/>
            <a:ext cx="749808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F3A11A"/>
                </a:solidFill>
                <a:latin typeface="宋体"/>
              </a:rPr>
              <a:t>P5 / 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4416552"/>
            <a:ext cx="50292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035"/>
                </a:solidFill>
                <a:latin typeface="宋体"/>
              </a:rPr>
              <a:t>20 × 20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112264" y="4608576"/>
            <a:ext cx="1133856" cy="0"/>
          </a:xfrm>
          <a:prstGeom prst="line">
            <a:avLst/>
          </a:prstGeom>
          <a:ln w="13970">
            <a:solidFill>
              <a:srgbClr val="F3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218688" y="2139696"/>
            <a:ext cx="713232" cy="2743200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宋体"/>
              </a:rPr>
              <a:t>v10
Detect
4-scale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" y="5212080"/>
            <a:ext cx="3218688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47DDF"/>
                </a:solidFill>
                <a:latin typeface="宋体"/>
              </a:rPr>
              <a:t>检测头由 P3/P4/P5 扩为 P2/P3/P4/P5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35424" y="1353312"/>
            <a:ext cx="3803904" cy="4727448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91456" y="1572768"/>
            <a:ext cx="292608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9C6D4"/>
                </a:solidFill>
                <a:latin typeface="宋体"/>
              </a:rPr>
              <a:t>Coordinate Attention：保留方向坐标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91456" y="1883664"/>
            <a:ext cx="3236976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AFC0CE"/>
                </a:solidFill>
                <a:latin typeface="宋体"/>
              </a:rPr>
              <a:t>对 H、W 两个方向分别池化，生成位置敏感的通道权重。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19472" y="2423160"/>
            <a:ext cx="960120" cy="502920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2C5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FFFFFF"/>
                </a:solidFill>
                <a:latin typeface="宋体"/>
              </a:rPr>
              <a:t>X
C×H×W</a:t>
            </a:r>
          </a:p>
        </p:txBody>
      </p:sp>
      <p:sp>
        <p:nvSpPr>
          <p:cNvPr id="42" name="Chevron 41"/>
          <p:cNvSpPr/>
          <p:nvPr/>
        </p:nvSpPr>
        <p:spPr>
          <a:xfrm>
            <a:off x="5971032" y="2532888"/>
            <a:ext cx="182880" cy="256032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36208" y="2286000"/>
            <a:ext cx="1627632" cy="384048"/>
          </a:xfrm>
          <a:prstGeom prst="roundRect">
            <a:avLst/>
          </a:prstGeom>
          <a:solidFill>
            <a:srgbClr val="E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A2035"/>
                </a:solidFill>
                <a:latin typeface="宋体"/>
              </a:rPr>
              <a:t>沿 W 平均池化 → 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36208" y="2761488"/>
            <a:ext cx="1627632" cy="384048"/>
          </a:xfrm>
          <a:prstGeom prst="roundRect">
            <a:avLst/>
          </a:prstGeom>
          <a:solidFill>
            <a:srgbClr val="EA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A2035"/>
                </a:solidFill>
                <a:latin typeface="宋体"/>
              </a:rPr>
              <a:t>沿 H 平均池化 → W</a:t>
            </a:r>
          </a:p>
        </p:txBody>
      </p:sp>
      <p:sp>
        <p:nvSpPr>
          <p:cNvPr id="45" name="Chevron 44"/>
          <p:cNvSpPr/>
          <p:nvPr/>
        </p:nvSpPr>
        <p:spPr>
          <a:xfrm>
            <a:off x="5669280" y="3310128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989320" y="3264408"/>
            <a:ext cx="1874519" cy="640080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2C5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宋体"/>
              </a:rPr>
              <a:t>Concat → 1×1 Conv
BN + HSwish</a:t>
            </a:r>
          </a:p>
        </p:txBody>
      </p:sp>
      <p:sp>
        <p:nvSpPr>
          <p:cNvPr id="47" name="Chevron 46"/>
          <p:cNvSpPr/>
          <p:nvPr/>
        </p:nvSpPr>
        <p:spPr>
          <a:xfrm>
            <a:off x="5669280" y="4087368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956048" y="4096512"/>
            <a:ext cx="1243584" cy="594360"/>
          </a:xfrm>
          <a:prstGeom prst="roundRect">
            <a:avLst/>
          </a:prstGeom>
          <a:solidFill>
            <a:srgbClr val="E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AE86"/>
                </a:solidFill>
                <a:latin typeface="宋体"/>
              </a:rPr>
              <a:t>sigmoid
aₕ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01968" y="4096512"/>
            <a:ext cx="1243584" cy="594360"/>
          </a:xfrm>
          <a:prstGeom prst="roundRect">
            <a:avLst/>
          </a:prstGeom>
          <a:solidFill>
            <a:srgbClr val="F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A78E8"/>
                </a:solidFill>
                <a:latin typeface="宋体"/>
              </a:rPr>
              <a:t>sigmoid
aᵥ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577840" y="4690872"/>
            <a:ext cx="548640" cy="320040"/>
          </a:xfrm>
          <a:prstGeom prst="line">
            <a:avLst/>
          </a:prstGeom>
          <a:ln w="12700">
            <a:solidFill>
              <a:srgbClr val="23A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6675120" y="4690872"/>
            <a:ext cx="548640" cy="320040"/>
          </a:xfrm>
          <a:prstGeom prst="line">
            <a:avLst/>
          </a:prstGeom>
          <a:ln w="12700">
            <a:solidFill>
              <a:srgbClr val="7A7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513832" y="4983480"/>
            <a:ext cx="1792224" cy="475488"/>
          </a:xfrm>
          <a:prstGeom prst="roundRect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071D33"/>
                </a:solidFill>
                <a:latin typeface="宋体"/>
              </a:rPr>
              <a:t>Y = X × aₕ × aᵥ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19472" y="5596128"/>
            <a:ext cx="3017520" cy="2103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AFC0CE"/>
                </a:solidFill>
                <a:latin typeface="宋体"/>
              </a:rPr>
              <a:t>输出形状不变，可插入现有 YAML 解析链路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58784" y="1353312"/>
            <a:ext cx="3072384" cy="4727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96528" y="1572768"/>
            <a:ext cx="2304288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3AE86"/>
                </a:solidFill>
                <a:latin typeface="宋体"/>
              </a:rPr>
              <a:t>代码落点与验证方式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796528" y="1993392"/>
            <a:ext cx="2596896" cy="804672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61120" y="2084832"/>
            <a:ext cx="804672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47DDF"/>
                </a:solidFill>
                <a:latin typeface="宋体"/>
              </a:rPr>
              <a:t>MODEL YAML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2304288"/>
            <a:ext cx="2212848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0A2035"/>
                </a:solidFill>
                <a:latin typeface="宋体"/>
              </a:rPr>
              <a:t>P2 / P3 后插入 CoordAtt
检测头输出 [P2…P5]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96528" y="2907792"/>
            <a:ext cx="2596896" cy="804672"/>
          </a:xfrm>
          <a:prstGeom prst="roundRect">
            <a:avLst/>
          </a:prstGeom>
          <a:solidFill>
            <a:srgbClr val="E8F8F8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61120" y="2999232"/>
            <a:ext cx="804672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9C6D4"/>
                </a:solidFill>
                <a:latin typeface="宋体"/>
              </a:rPr>
              <a:t>PYTORCH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1120" y="3218688"/>
            <a:ext cx="2212848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0A2035"/>
                </a:solidFill>
                <a:latin typeface="宋体"/>
              </a:rPr>
              <a:t>hidden=max(8, C/32)
惰性构建，保持张量形状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96528" y="3822191"/>
            <a:ext cx="2596896" cy="804672"/>
          </a:xfrm>
          <a:prstGeom prst="roundRect">
            <a:avLst/>
          </a:prstGeom>
          <a:solidFill>
            <a:srgbClr val="F0E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61120" y="3913631"/>
            <a:ext cx="804672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7A78E8"/>
                </a:solidFill>
                <a:latin typeface="宋体"/>
              </a:rPr>
              <a:t>ABLATION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61120" y="4133087"/>
            <a:ext cx="2212848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A2035"/>
                </a:solidFill>
                <a:latin typeface="宋体"/>
              </a:rPr>
              <a:t>B0 baseline → B1 P2
→ B2 P2+CA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796528" y="4736592"/>
            <a:ext cx="2596896" cy="804672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61120" y="4828031"/>
            <a:ext cx="804672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F3A11A"/>
                </a:solidFill>
                <a:latin typeface="宋体"/>
              </a:rPr>
              <a:t>COST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1120" y="5047488"/>
            <a:ext cx="2212848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0A2035"/>
                </a:solidFill>
                <a:latin typeface="宋体"/>
              </a:rPr>
              <a:t>同时记录 VRAM、FLOPs
吞吐与 p95 延迟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30352" y="6181344"/>
            <a:ext cx="11100816" cy="246888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F3A11A"/>
                </a:solidFill>
                <a:latin typeface="宋体"/>
              </a:rPr>
              <a:t>YOLOv10 仍为 anchor-free：IoU 宽高聚类只用于选择 P2 / TAL / 增广方案，不会生成 anchors。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TRAINING RECIPE &amp;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微调配方、消融实验与上线判据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训练参数先作为可复现起点；最终方案由固定划分的精度证据和同硬件性能预算共同决定。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10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10 / 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353312"/>
            <a:ext cx="4681728" cy="4718304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1572768"/>
            <a:ext cx="251460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9C6D4"/>
                </a:solidFill>
                <a:latin typeface="宋体"/>
              </a:rPr>
              <a:t>当前可复现训练入口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1920240"/>
            <a:ext cx="4169663" cy="1197864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039112"/>
            <a:ext cx="379476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FFFFFF"/>
                </a:solidFill>
                <a:latin typeface="Consolas"/>
              </a:rPr>
              <a:t>python -m insulens_perception.train
  --small-object-model --epochs 60
  --imgsz 640 --batch 16
  --tal-topk 10 --patience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364992"/>
            <a:ext cx="201168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FC0CE"/>
                </a:solidFill>
                <a:latin typeface="宋体"/>
              </a:rPr>
              <a:t>训练脚本中的固定起点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" y="3675887"/>
            <a:ext cx="621792" cy="283464"/>
          </a:xfrm>
          <a:prstGeom prst="round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宋体"/>
              </a:rPr>
              <a:t>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666744"/>
            <a:ext cx="320040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宋体"/>
              </a:rPr>
              <a:t>optimizer=auto · cos_lr=True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4069079"/>
            <a:ext cx="621792" cy="283464"/>
          </a:xfrm>
          <a:prstGeom prst="roundRect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宋体"/>
              </a:rPr>
              <a:t>稳定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059935"/>
            <a:ext cx="320040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宋体"/>
              </a:rPr>
              <a:t>patience=15 · AMP=False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" y="4462271"/>
            <a:ext cx="621792" cy="283464"/>
          </a:xfrm>
          <a:prstGeom prst="roundRect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宋体"/>
              </a:rPr>
              <a:t>几何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453127"/>
            <a:ext cx="320040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宋体"/>
              </a:rPr>
              <a:t>degrees=12 · translate=.15 · scale=.45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" y="4855463"/>
            <a:ext cx="621792" cy="283464"/>
          </a:xfrm>
          <a:prstGeom prst="roundRect">
            <a:avLst/>
          </a:prstGeom>
          <a:solidFill>
            <a:srgbClr val="7A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宋体"/>
              </a:rPr>
              <a:t>混合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4846319"/>
            <a:ext cx="320040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宋体"/>
              </a:rPr>
              <a:t>fliplr=.5 · mixup=.05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" y="5248655"/>
            <a:ext cx="621792" cy="283464"/>
          </a:xfrm>
          <a:prstGeom prst="roundRect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宋体"/>
              </a:rPr>
              <a:t>收尾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2768" y="5239511"/>
            <a:ext cx="320040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宋体"/>
              </a:rPr>
              <a:t>close_mosaic=10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" y="5687568"/>
            <a:ext cx="4169663" cy="228600"/>
          </a:xfrm>
          <a:prstGeom prst="roundRect">
            <a:avLst/>
          </a:prstGeom>
          <a:solidFill>
            <a:srgbClr val="E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71D33"/>
                </a:solidFill>
                <a:latin typeface="宋体"/>
              </a:rPr>
              <a:t>预训练权重仅在 --model 指向 .pt 时启用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49824" y="1353312"/>
            <a:ext cx="6181344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87568" y="1554480"/>
            <a:ext cx="297180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47DDF"/>
                </a:solidFill>
                <a:latin typeface="宋体"/>
              </a:rPr>
              <a:t>最小消融矩阵｜每组固定 split / seed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87568" y="1901952"/>
            <a:ext cx="548640" cy="365760"/>
          </a:xfrm>
          <a:prstGeom prst="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宋体"/>
              </a:rPr>
              <a:t>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54496" y="1901952"/>
            <a:ext cx="2066543" cy="365760"/>
          </a:xfrm>
          <a:prstGeom prst="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宋体"/>
              </a:rPr>
              <a:t>只改变什么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39327" y="1901952"/>
            <a:ext cx="3035808" cy="365760"/>
          </a:xfrm>
          <a:prstGeom prst="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宋体"/>
              </a:rPr>
              <a:t>必须比较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87568" y="2267712"/>
            <a:ext cx="548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147DDF"/>
                </a:solidFill>
                <a:latin typeface="宋体"/>
              </a:rPr>
              <a:t>B0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54496" y="2267712"/>
            <a:ext cx="206654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A2035"/>
                </a:solidFill>
                <a:latin typeface="宋体"/>
              </a:rPr>
              <a:t>YOLOv10s @ 640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39327" y="2267712"/>
            <a:ext cx="30358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0A2035"/>
                </a:solidFill>
                <a:latin typeface="宋体"/>
              </a:rPr>
              <a:t>基线：逐类 AP / Recall / FP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87568" y="2679192"/>
            <a:ext cx="548640" cy="411480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147DDF"/>
                </a:solidFill>
                <a:latin typeface="宋体"/>
              </a:rPr>
              <a:t>B1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54496" y="2679192"/>
            <a:ext cx="2066543" cy="411480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A2035"/>
                </a:solidFill>
                <a:latin typeface="宋体"/>
              </a:rPr>
              <a:t>提高 imgsz 或切片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39327" y="2679192"/>
            <a:ext cx="3035808" cy="411480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0A2035"/>
                </a:solidFill>
                <a:latin typeface="宋体"/>
              </a:rPr>
              <a:t>像素收益 vs p95 latency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87568" y="3090672"/>
            <a:ext cx="548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147DDF"/>
                </a:solidFill>
                <a:latin typeface="宋体"/>
              </a:rPr>
              <a:t>B2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54496" y="3090672"/>
            <a:ext cx="206654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A2035"/>
                </a:solidFill>
                <a:latin typeface="宋体"/>
              </a:rPr>
              <a:t>+ P2 检测分支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39327" y="3090672"/>
            <a:ext cx="30358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0A2035"/>
                </a:solidFill>
                <a:latin typeface="宋体"/>
              </a:rPr>
              <a:t>AP_small vs VRAM / FLOPs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87568" y="3502152"/>
            <a:ext cx="548640" cy="411480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147DDF"/>
                </a:solidFill>
                <a:latin typeface="宋体"/>
              </a:rPr>
              <a:t>B3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54496" y="3502152"/>
            <a:ext cx="2066543" cy="411480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A2035"/>
                </a:solidFill>
                <a:latin typeface="宋体"/>
              </a:rPr>
              <a:t>+ Coordinate Attention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39327" y="3502152"/>
            <a:ext cx="3035808" cy="411480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0A2035"/>
                </a:solidFill>
                <a:latin typeface="宋体"/>
              </a:rPr>
              <a:t>定位收益 vs 吞吐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87568" y="3913632"/>
            <a:ext cx="548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147DDF"/>
                </a:solidFill>
                <a:latin typeface="宋体"/>
              </a:rPr>
              <a:t>B4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54496" y="3913632"/>
            <a:ext cx="206654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A2035"/>
                </a:solidFill>
                <a:latin typeface="宋体"/>
              </a:rPr>
              <a:t>P2 + CA + 切片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39327" y="3913632"/>
            <a:ext cx="30358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0A2035"/>
                </a:solidFill>
                <a:latin typeface="宋体"/>
              </a:rPr>
              <a:t>组合收益、误报与稳定性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87568" y="4389120"/>
            <a:ext cx="5504688" cy="1554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EF5B5B"/>
                </a:solidFill>
                <a:latin typeface="宋体"/>
              </a:rPr>
              <a:t>资源允许时重复 ≥3 次，报告均值与波动；不要只展示最好的一次。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49824" y="4864608"/>
            <a:ext cx="6181344" cy="1207008"/>
          </a:xfrm>
          <a:prstGeom prst="roundRect">
            <a:avLst/>
          </a:prstGeom>
          <a:solidFill>
            <a:srgbClr val="EAF7F2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87568" y="5038344"/>
            <a:ext cx="1554480" cy="1920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23AE86"/>
                </a:solidFill>
                <a:latin typeface="宋体"/>
              </a:rPr>
              <a:t>上线判据｜同时满足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87568" y="5376672"/>
            <a:ext cx="9601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7D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147DDF"/>
                </a:solidFill>
                <a:latin typeface="宋体"/>
              </a:rPr>
              <a:t>AP_small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757416" y="5376672"/>
            <a:ext cx="9601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C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19C6D4"/>
                </a:solidFill>
                <a:latin typeface="宋体"/>
              </a:rPr>
              <a:t>逐类 Recall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827263" y="5376672"/>
            <a:ext cx="9601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EF5B5B"/>
                </a:solidFill>
                <a:latin typeface="宋体"/>
              </a:rPr>
              <a:t>FP / 图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897111" y="5376672"/>
            <a:ext cx="9601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A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F3A11A"/>
                </a:solidFill>
                <a:latin typeface="宋体"/>
              </a:rPr>
              <a:t>p95 延迟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66959" y="5376672"/>
            <a:ext cx="9601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7A78E8"/>
                </a:solidFill>
                <a:latin typeface="宋体"/>
              </a:rPr>
              <a:t>VRAM / 体积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87568" y="5797296"/>
            <a:ext cx="5413248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A2035"/>
                </a:solidFill>
                <a:latin typeface="宋体"/>
              </a:rPr>
              <a:t>优先保证缺陷召回；精度收益必须落在部署时延与显存预算内。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30352" y="6181344"/>
            <a:ext cx="11100816" cy="246888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F3A11A"/>
                </a:solidFill>
                <a:latin typeface="宋体"/>
              </a:rPr>
              <a:t>实现边界：--tal-topk 当前仅写入 small_object_experiment.json；分配器仍由已安装的 Ultralytics 版本管理。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9DA1B4"/>
      </a:dk1>
      <a:lt1>
        <a:sysClr val="window" lastClr="2B303B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507</Words>
  <Application>Microsoft Office PowerPoint</Application>
  <PresentationFormat>宽屏</PresentationFormat>
  <Paragraphs>138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Inter</vt:lpstr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InsuLens Web + ROS 2 绝缘子智能巡检与报告系统</dc:title>
  <dc:subject>基于最新 README 更新的八页项目成果汇报</dc:subject>
  <dc:creator>Doggo Project</dc:creator>
  <cp:keywords>InsuLens, FastAPI, ROS 2, YOLOv10, 绝缘子, 图片巡检, 视频跟踪, JSON, CSV</cp:keywords>
  <dc:description>Metrics and limitations are documented from the local project artifacts.</dc:description>
  <cp:lastModifiedBy>浩天 吴</cp:lastModifiedBy>
  <cp:revision>4</cp:revision>
  <dcterms:created xsi:type="dcterms:W3CDTF">2013-01-27T09:14:16Z</dcterms:created>
  <dcterms:modified xsi:type="dcterms:W3CDTF">2026-07-23T01:46:00Z</dcterms:modified>
  <cp:category/>
</cp:coreProperties>
</file>