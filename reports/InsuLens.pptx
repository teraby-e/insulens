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8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10528" cy="6858000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0528" y="0"/>
            <a:ext cx="164592" cy="685800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91440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6016752"/>
            <a:ext cx="5422392" cy="841248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40080"/>
            <a:ext cx="4480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POWER · AI · WEB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面向新型电力系统的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37360"/>
            <a:ext cx="516636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绝缘子智能巡检
与报告系统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5468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FastAPI Web + ROS 2 + YOLOv10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" y="3575304"/>
            <a:ext cx="4636008" cy="0"/>
          </a:xfrm>
          <a:prstGeom prst="line">
            <a:avLst/>
          </a:prstGeom>
          <a:ln w="12700">
            <a:solidFill>
              <a:srgbClr val="2A52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" y="3822191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五类模型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9696" y="3822191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六类报告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822191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图片 / 视频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261104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可追溯交付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288" y="4261104"/>
            <a:ext cx="1353312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小目标增强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03904" y="4261104"/>
            <a:ext cx="1188720" cy="310896"/>
          </a:xfrm>
          <a:prstGeom prst="roundRect">
            <a:avLst/>
          </a:prstGeom>
          <a:solidFill>
            <a:srgbClr val="0B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轨迹去重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291072"/>
            <a:ext cx="3291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2026 · Doggo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6254496"/>
            <a:ext cx="47365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现有真实域推理证据｜缺片检测基线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PAIN POINTS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从现场巡检痛点到工程交付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新增 Web 入口，让模型能力能够直接形成图片、视频与报告交付。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2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1353312"/>
            <a:ext cx="64008" cy="758952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1463040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1435608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小目标、强背景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1700784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远距离航拍下绝缘子占比小，杆塔、导线、天空与遮挡容易形成干扰。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2258568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2258568"/>
            <a:ext cx="64008" cy="758952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36829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2340864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缺陷少、数据贵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2606040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多类真实故障样本稀缺，来源、许可、标注与划分都必须可追溯。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3163824"/>
            <a:ext cx="4892040" cy="7589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163824"/>
            <a:ext cx="64008" cy="758952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2735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3246120"/>
            <a:ext cx="4142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视频重复计数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" y="3511296"/>
            <a:ext cx="4142231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同一目标跨帧反复出现，若按检测框累计会高估巡检数量与故障事件。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50992" y="1353312"/>
            <a:ext cx="5980176" cy="34747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1581912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工程交付目标</a:t>
            </a:r>
          </a:p>
        </p:txBody>
      </p:sp>
      <p:sp>
        <p:nvSpPr>
          <p:cNvPr id="34" name="Oval 33"/>
          <p:cNvSpPr/>
          <p:nvPr/>
        </p:nvSpPr>
        <p:spPr>
          <a:xfrm>
            <a:off x="5961888" y="1956816"/>
            <a:ext cx="329184" cy="329184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1938528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浏览器直接上传图片或视频，无需 ROS 环境</a:t>
            </a:r>
          </a:p>
        </p:txBody>
      </p:sp>
      <p:sp>
        <p:nvSpPr>
          <p:cNvPr id="36" name="Oval 35"/>
          <p:cNvSpPr/>
          <p:nvPr/>
        </p:nvSpPr>
        <p:spPr>
          <a:xfrm>
            <a:off x="5961888" y="2615184"/>
            <a:ext cx="329184" cy="329184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596896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实时展示总数、六类统计、FPS 与平均置信度</a:t>
            </a:r>
          </a:p>
        </p:txBody>
      </p:sp>
      <p:sp>
        <p:nvSpPr>
          <p:cNvPr id="38" name="Oval 37"/>
          <p:cNvSpPr/>
          <p:nvPr/>
        </p:nvSpPr>
        <p:spPr>
          <a:xfrm>
            <a:off x="5961888" y="3273552"/>
            <a:ext cx="329184" cy="329184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255264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视频以类别一致的 Track ID 去重计数</a:t>
            </a:r>
          </a:p>
        </p:txBody>
      </p:sp>
      <p:sp>
        <p:nvSpPr>
          <p:cNvPr id="40" name="Oval 39"/>
          <p:cNvSpPr/>
          <p:nvPr/>
        </p:nvSpPr>
        <p:spPr>
          <a:xfrm>
            <a:off x="5961888" y="3931920"/>
            <a:ext cx="329184" cy="329184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913632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输出标注媒体，并导出 JSON / CSV 报告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047488"/>
            <a:ext cx="11100816" cy="71323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48656"/>
            <a:ext cx="9144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项目定位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175504"/>
            <a:ext cx="9052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 Web 巡检交付与既有 ROS 2 工程链路并行，面向课程实践、算法原型与现场数据预筛。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" y="5925312"/>
            <a:ext cx="1481328" cy="310896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上传即巡检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57984" y="5925312"/>
            <a:ext cx="1481328" cy="310896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轨迹级统计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85615" y="5925312"/>
            <a:ext cx="1481328" cy="310896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报告可审计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907024"/>
            <a:ext cx="500176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边界：不能替代电力安全专业复核或现场作业决策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两条运行链路，一个检测内核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Web 模式独立于 ROS；两条链路共享模型、类别规则与可追溯产物。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3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298448"/>
            <a:ext cx="11100816" cy="1517904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481328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WEB 交付链路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9928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09928" y="1627632"/>
            <a:ext cx="54864" cy="73152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56232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浏览器上传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4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图片 / 视频</a:t>
            </a:r>
          </a:p>
        </p:txBody>
      </p:sp>
      <p:sp>
        <p:nvSpPr>
          <p:cNvPr id="23" name="Chevron 22"/>
          <p:cNvSpPr/>
          <p:nvPr/>
        </p:nvSpPr>
        <p:spPr>
          <a:xfrm>
            <a:off x="3328416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21024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21024" y="1627632"/>
            <a:ext cx="54864" cy="7315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FastAPI 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job_id + 健康检查</a:t>
            </a:r>
          </a:p>
        </p:txBody>
      </p:sp>
      <p:sp>
        <p:nvSpPr>
          <p:cNvPr id="28" name="Chevron 27"/>
          <p:cNvSpPr/>
          <p:nvPr/>
        </p:nvSpPr>
        <p:spPr>
          <a:xfrm>
            <a:off x="5239512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1627632"/>
            <a:ext cx="54864" cy="7315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8424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检测内核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0136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全图 + 切片</a:t>
            </a:r>
          </a:p>
        </p:txBody>
      </p:sp>
      <p:sp>
        <p:nvSpPr>
          <p:cNvPr id="33" name="Chevron 32"/>
          <p:cNvSpPr/>
          <p:nvPr/>
        </p:nvSpPr>
        <p:spPr>
          <a:xfrm>
            <a:off x="7150608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43216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1627632"/>
            <a:ext cx="54864" cy="731520"/>
          </a:xfrm>
          <a:prstGeom prst="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视频跟踪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2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IoU + Track ID</a:t>
            </a:r>
          </a:p>
        </p:txBody>
      </p:sp>
      <p:sp>
        <p:nvSpPr>
          <p:cNvPr id="38" name="Chevron 37"/>
          <p:cNvSpPr/>
          <p:nvPr/>
        </p:nvSpPr>
        <p:spPr>
          <a:xfrm>
            <a:off x="9061704" y="1792224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54312" y="1627632"/>
            <a:ext cx="1572768" cy="731520"/>
          </a:xfrm>
          <a:prstGeom prst="roundRect">
            <a:avLst/>
          </a:prstGeom>
          <a:solidFill>
            <a:srgbClr val="0B2947"/>
          </a:solidFill>
          <a:ln w="10160">
            <a:solidFill>
              <a:srgbClr val="18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54312" y="1627632"/>
            <a:ext cx="54864" cy="7315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0616" y="1719072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结果交付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328" y="1984248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媒体 + JSON / 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3035808"/>
            <a:ext cx="1110081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200400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ROS 2 工程链路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09928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09928" y="3291840"/>
            <a:ext cx="54864" cy="73152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56232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Gazebo / 相机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37944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图片、目录或视频</a:t>
            </a:r>
          </a:p>
        </p:txBody>
      </p:sp>
      <p:sp>
        <p:nvSpPr>
          <p:cNvPr id="49" name="Chevron 48"/>
          <p:cNvSpPr/>
          <p:nvPr/>
        </p:nvSpPr>
        <p:spPr>
          <a:xfrm>
            <a:off x="3328416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21024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21024" y="3291840"/>
            <a:ext cx="54864" cy="7315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67328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Image 话题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39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/InsuLens/*/image_raw</a:t>
            </a:r>
          </a:p>
        </p:txBody>
      </p:sp>
      <p:sp>
        <p:nvSpPr>
          <p:cNvPr id="54" name="Chevron 53"/>
          <p:cNvSpPr/>
          <p:nvPr/>
        </p:nvSpPr>
        <p:spPr>
          <a:xfrm>
            <a:off x="5239512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532120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32120" y="3291840"/>
            <a:ext cx="54864" cy="7315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78424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检测节点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0136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框、类别、置信度</a:t>
            </a:r>
          </a:p>
        </p:txBody>
      </p:sp>
      <p:sp>
        <p:nvSpPr>
          <p:cNvPr id="59" name="Chevron 58"/>
          <p:cNvSpPr/>
          <p:nvPr/>
        </p:nvSpPr>
        <p:spPr>
          <a:xfrm>
            <a:off x="7150608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43216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43216" y="3291840"/>
            <a:ext cx="54864" cy="7315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事件证据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71232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告警 + JPG / JSON</a:t>
            </a:r>
          </a:p>
        </p:txBody>
      </p:sp>
      <p:sp>
        <p:nvSpPr>
          <p:cNvPr id="64" name="Chevron 63"/>
          <p:cNvSpPr/>
          <p:nvPr/>
        </p:nvSpPr>
        <p:spPr>
          <a:xfrm>
            <a:off x="9061704" y="3474720"/>
            <a:ext cx="201168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354312" y="3291840"/>
            <a:ext cx="157276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54312" y="3291840"/>
            <a:ext cx="54864" cy="7315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0616" y="3383280"/>
            <a:ext cx="13441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监视与看板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82328" y="3648456"/>
            <a:ext cx="1371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终端 / rosbridge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736592"/>
            <a:ext cx="2615184" cy="1188720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SMALL OBJECT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P2 + Coordinate Attention
重叠切片与类别感知融合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46704" y="4736592"/>
            <a:ext cx="2615184" cy="1188720"/>
          </a:xfrm>
          <a:prstGeom prst="roundRect">
            <a:avLst/>
          </a:prstGeom>
          <a:solidFill>
            <a:srgbClr val="F0E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11296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VIDEO TRACE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11296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类别一致 Track ID
按唯一轨迹统计目标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63056" y="4736592"/>
            <a:ext cx="2615184" cy="1188720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7648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MLOPS TRACE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27648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权重、类别映射、指标
校验值与报告绑定版本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79408" y="4736592"/>
            <a:ext cx="2615184" cy="1188720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0" y="4901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DEPLOYMENT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5230368"/>
            <a:ext cx="2286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结构化剪枝 → ONNX
TensorRT / OpenVINO / INT8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CLASSIFICATION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五类模型输出，六类业务报告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严格区分“模型训练类别”和“业务报告类别”，避免把推断逻辑误写成训练能力。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4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4663440" cy="3511296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572768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训练模型｜严格 5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158191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类别顺序不可变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1938528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1938528"/>
            <a:ext cx="54864" cy="475488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202996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2029968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正常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2468880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" y="2468880"/>
            <a:ext cx="54864" cy="475488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256032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broken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256032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破损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2999232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" y="2999232"/>
            <a:ext cx="54864" cy="475488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309067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crack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3090672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裂纹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3529584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" y="3529584"/>
            <a:ext cx="54864" cy="475488"/>
          </a:xfrm>
          <a:prstGeom prst="rect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362102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pollution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6664" y="362102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污秽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4059935"/>
            <a:ext cx="416052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" y="4059935"/>
            <a:ext cx="54864" cy="475488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151375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missing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6664" y="4151375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缺失</a:t>
            </a:r>
          </a:p>
        </p:txBody>
      </p:sp>
      <p:sp>
        <p:nvSpPr>
          <p:cNvPr id="40" name="Oval 39"/>
          <p:cNvSpPr/>
          <p:nvPr/>
        </p:nvSpPr>
        <p:spPr>
          <a:xfrm>
            <a:off x="5266944" y="2542032"/>
            <a:ext cx="603504" cy="603504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5232" y="3227832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→</a:t>
            </a:r>
          </a:p>
        </p:txBody>
      </p:sp>
      <p:sp>
        <p:nvSpPr>
          <p:cNvPr id="42" name="Oval 41"/>
          <p:cNvSpPr/>
          <p:nvPr/>
        </p:nvSpPr>
        <p:spPr>
          <a:xfrm>
            <a:off x="5266944" y="3694176"/>
            <a:ext cx="603504" cy="603504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1353312"/>
            <a:ext cx="5641848" cy="3511296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1591056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业务报告｜6 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1072" y="1965960"/>
            <a:ext cx="1344168" cy="310896"/>
          </a:xfrm>
          <a:prstGeom prst="roundRect">
            <a:avLst/>
          </a:prstGeom>
          <a:solidFill>
            <a:srgbClr val="12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normal 正常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44968" y="1965960"/>
            <a:ext cx="1344168" cy="310896"/>
          </a:xfrm>
          <a:prstGeom prst="roundRect">
            <a:avLst/>
          </a:prstGeom>
          <a:solidFill>
            <a:srgbClr val="4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broken 破损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864" y="1965960"/>
            <a:ext cx="1344168" cy="310896"/>
          </a:xfrm>
          <a:prstGeom prst="roundRect">
            <a:avLst/>
          </a:prstGeom>
          <a:solidFill>
            <a:srgbClr val="443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crack 裂纹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2395728"/>
            <a:ext cx="1344168" cy="310896"/>
          </a:xfrm>
          <a:prstGeom prst="roundRect">
            <a:avLst/>
          </a:prstGeom>
          <a:solidFill>
            <a:srgbClr val="2D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pollution 污秽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44968" y="2395728"/>
            <a:ext cx="1344168" cy="310896"/>
          </a:xfrm>
          <a:prstGeom prst="roundRect">
            <a:avLst/>
          </a:prstGeom>
          <a:solidFill>
            <a:srgbClr val="163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missing 缺失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64" y="2395728"/>
            <a:ext cx="1463040" cy="310896"/>
          </a:xfrm>
          <a:prstGeom prst="roundRect">
            <a:avLst/>
          </a:prstGeom>
          <a:solidFill>
            <a:srgbClr val="4B2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flashover 闪络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035808"/>
            <a:ext cx="4892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flashover 不进入训练集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3401568"/>
            <a:ext cx="486460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当候选目标对五类的最高置信度低于 flashover_inference_threshold 时，业务层将其作为排除式闪络报告。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4206240"/>
            <a:ext cx="48646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保留低置信度与 flashover-inferred 来源标记，便于审计与复核。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5102352"/>
            <a:ext cx="168249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高分辨率画面</a:t>
            </a:r>
          </a:p>
        </p:txBody>
      </p:sp>
      <p:sp>
        <p:nvSpPr>
          <p:cNvPr id="55" name="Chevron 54"/>
          <p:cNvSpPr/>
          <p:nvPr/>
        </p:nvSpPr>
        <p:spPr>
          <a:xfrm>
            <a:off x="2286000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624328" y="5102352"/>
            <a:ext cx="1956816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全图 + 重叠切片</a:t>
            </a:r>
          </a:p>
        </p:txBody>
      </p:sp>
      <p:sp>
        <p:nvSpPr>
          <p:cNvPr id="57" name="Chevron 56"/>
          <p:cNvSpPr/>
          <p:nvPr/>
        </p:nvSpPr>
        <p:spPr>
          <a:xfrm>
            <a:off x="4654296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992624" y="5102352"/>
            <a:ext cx="141732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坐标恢复</a:t>
            </a:r>
          </a:p>
        </p:txBody>
      </p:sp>
      <p:sp>
        <p:nvSpPr>
          <p:cNvPr id="59" name="Chevron 58"/>
          <p:cNvSpPr/>
          <p:nvPr/>
        </p:nvSpPr>
        <p:spPr>
          <a:xfrm>
            <a:off x="6483096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821424" y="5102352"/>
            <a:ext cx="1856231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类别感知 NMS</a:t>
            </a:r>
          </a:p>
        </p:txBody>
      </p:sp>
      <p:sp>
        <p:nvSpPr>
          <p:cNvPr id="61" name="Chevron 60"/>
          <p:cNvSpPr/>
          <p:nvPr/>
        </p:nvSpPr>
        <p:spPr>
          <a:xfrm>
            <a:off x="8750808" y="5202936"/>
            <a:ext cx="256032" cy="274320"/>
          </a:xfrm>
          <a:prstGeom prst="chevron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89136" y="5102352"/>
            <a:ext cx="1353312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六类结果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" y="5833872"/>
            <a:ext cx="11100816" cy="40233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4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权重类别不匹配会被标记为未就绪；上传巡检返回 503。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WEB INSPECTION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图片与视频的端到端巡检闭环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从素材上传到报告下载，视频统计以唯一轨迹为单位，避免逐帧重复累计。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5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6473952" cy="4462272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572768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任务处理流程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2084832"/>
            <a:ext cx="310896" cy="310896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上传媒体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jpg / png / bmp
mp4 / avi / mov / mkv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7208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53512" y="2084832"/>
            <a:ext cx="310896" cy="310896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多尺度推理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全图检测 + 重叠切片
强化远距离小目标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8032" y="1938528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74336" y="2084832"/>
            <a:ext cx="310896" cy="310896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209397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检测融合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2514600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切片框恢复到原图
类别感知 NMS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2688" y="3849624"/>
            <a:ext cx="310896" cy="310896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视频跟踪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类别一致 IoU 关联
维护 Track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7208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3512" y="3849624"/>
            <a:ext cx="310896" cy="310896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轨迹计数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任务期间唯一轨迹
同一目标只计一次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8032" y="3703320"/>
            <a:ext cx="1965960" cy="1298448"/>
          </a:xfrm>
          <a:prstGeom prst="roundRect">
            <a:avLst/>
          </a:prstGeom>
          <a:solidFill>
            <a:srgbClr val="0B2947"/>
          </a:solidFill>
          <a:ln w="12700">
            <a:solidFill>
              <a:srgbClr val="18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74336" y="3849624"/>
            <a:ext cx="310896" cy="310896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6672" y="385876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结果交付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4279392"/>
            <a:ext cx="16276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标注媒体 + 统计
JSON / CSV 报告</a:t>
            </a:r>
          </a:p>
        </p:txBody>
      </p:sp>
      <p:sp>
        <p:nvSpPr>
          <p:cNvPr id="43" name="Chevron 42"/>
          <p:cNvSpPr/>
          <p:nvPr/>
        </p:nvSpPr>
        <p:spPr>
          <a:xfrm>
            <a:off x="2523744" y="244144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evron 43"/>
          <p:cNvSpPr/>
          <p:nvPr/>
        </p:nvSpPr>
        <p:spPr>
          <a:xfrm>
            <a:off x="4544568" y="2441448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806440" y="3273552"/>
            <a:ext cx="0" cy="320040"/>
          </a:xfrm>
          <a:prstGeom prst="line">
            <a:avLst/>
          </a:prstGeom>
          <a:ln w="20320">
            <a:solidFill>
              <a:srgbClr val="19C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hevron 45"/>
          <p:cNvSpPr/>
          <p:nvPr/>
        </p:nvSpPr>
        <p:spPr>
          <a:xfrm>
            <a:off x="2523744" y="4206240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4544568" y="4206240"/>
            <a:ext cx="201168" cy="274320"/>
          </a:xfrm>
          <a:prstGeom prst="chevron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232904" y="1353312"/>
            <a:ext cx="439826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1600200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实时统计</a:t>
            </a:r>
          </a:p>
        </p:txBody>
      </p:sp>
      <p:sp>
        <p:nvSpPr>
          <p:cNvPr id="50" name="Oval 49"/>
          <p:cNvSpPr/>
          <p:nvPr/>
        </p:nvSpPr>
        <p:spPr>
          <a:xfrm>
            <a:off x="7498079" y="2011679"/>
            <a:ext cx="109728" cy="109728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4112" y="1984248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处理 FPS</a:t>
            </a:r>
          </a:p>
        </p:txBody>
      </p:sp>
      <p:sp>
        <p:nvSpPr>
          <p:cNvPr id="52" name="Oval 51"/>
          <p:cNvSpPr/>
          <p:nvPr/>
        </p:nvSpPr>
        <p:spPr>
          <a:xfrm>
            <a:off x="7498079" y="2359151"/>
            <a:ext cx="109728" cy="109728"/>
          </a:xfrm>
          <a:prstGeom prst="ellipse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2" y="2331720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检测总数 / 六类数量</a:t>
            </a:r>
          </a:p>
        </p:txBody>
      </p:sp>
      <p:sp>
        <p:nvSpPr>
          <p:cNvPr id="54" name="Oval 53"/>
          <p:cNvSpPr/>
          <p:nvPr/>
        </p:nvSpPr>
        <p:spPr>
          <a:xfrm>
            <a:off x="7498079" y="2706623"/>
            <a:ext cx="109728" cy="109728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2679191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平均置信度</a:t>
            </a:r>
          </a:p>
        </p:txBody>
      </p:sp>
      <p:sp>
        <p:nvSpPr>
          <p:cNvPr id="56" name="Oval 55"/>
          <p:cNvSpPr/>
          <p:nvPr/>
        </p:nvSpPr>
        <p:spPr>
          <a:xfrm>
            <a:off x="7498079" y="3054096"/>
            <a:ext cx="109728" cy="109728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4112" y="3026664"/>
            <a:ext cx="34747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每帧检测与 Track ID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32904" y="3749039"/>
            <a:ext cx="4398264" cy="1444752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3977639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审计与下载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352544"/>
            <a:ext cx="3822191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JSON：后端类型、帧数、耗时、逐帧 bbox / class / confidence / track_id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764024"/>
            <a:ext cx="3822191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CSV：检测数量、六类统计、平均置信度与 FPS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" y="5980176"/>
            <a:ext cx="11100816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inspection_results/web/inspection_&lt;UTC时间&gt;_&lt;随机ID&gt;/    ·    /api/jobs/{job_id}/{artifact}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MODEL ARTIFACTS &amp; RELEASE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已有基线结果与新版本上线门槛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以下指标来自 CPLID 同源固定划分的双类别缺片基线，不等同于五类 Web 权重的现场验收。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6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5559552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1499616"/>
            <a:ext cx="5266944" cy="36118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76656" y="4690872"/>
            <a:ext cx="5266944" cy="420624"/>
          </a:xfrm>
          <a:prstGeom prst="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754880"/>
            <a:ext cx="4937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现有真实域缺片检测基线｜CPLID 固定划分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35331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53312"/>
            <a:ext cx="54864" cy="960120"/>
          </a:xfrm>
          <a:prstGeom prst="rect">
            <a:avLst/>
          </a:prstGeom>
          <a:solidFill>
            <a:srgbClr val="19C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46304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192938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mAP50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392" y="135331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51392" y="1353312"/>
            <a:ext cx="54864" cy="9601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46304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92938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Precision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5059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450592"/>
            <a:ext cx="54864" cy="960120"/>
          </a:xfrm>
          <a:prstGeom prst="rect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256032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0.960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02666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missing_disc Recall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51392" y="2450592"/>
            <a:ext cx="2395728" cy="960120"/>
          </a:xfrm>
          <a:prstGeom prst="round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51392" y="2450592"/>
            <a:ext cx="54864" cy="960120"/>
          </a:xfrm>
          <a:prstGeom prst="rect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560320"/>
            <a:ext cx="1901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0.530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026664"/>
            <a:ext cx="19019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>两类平均 mAP50-95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547872"/>
            <a:ext cx="4937760" cy="1901952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3767328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五类 Web 权重上线门槛</a:t>
            </a:r>
          </a:p>
        </p:txBody>
      </p:sp>
      <p:sp>
        <p:nvSpPr>
          <p:cNvPr id="39" name="Oval 38"/>
          <p:cNvSpPr/>
          <p:nvPr/>
        </p:nvSpPr>
        <p:spPr>
          <a:xfrm>
            <a:off x="6565392" y="4151376"/>
            <a:ext cx="182880" cy="182880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6" y="4133088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names 顺序严格为 normal / broken / crack / pollution / missing</a:t>
            </a:r>
          </a:p>
        </p:txBody>
      </p:sp>
      <p:sp>
        <p:nvSpPr>
          <p:cNvPr id="41" name="Oval 40"/>
          <p:cNvSpPr/>
          <p:nvPr/>
        </p:nvSpPr>
        <p:spPr>
          <a:xfrm>
            <a:off x="6565392" y="4443984"/>
            <a:ext cx="182880" cy="182880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8856" y="4425696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独立真实测试集逐类 AP、Recall、mAP50-95 与混淆矩阵</a:t>
            </a:r>
          </a:p>
        </p:txBody>
      </p:sp>
      <p:sp>
        <p:nvSpPr>
          <p:cNvPr id="43" name="Oval 42"/>
          <p:cNvSpPr/>
          <p:nvPr/>
        </p:nvSpPr>
        <p:spPr>
          <a:xfrm>
            <a:off x="6565392" y="4736592"/>
            <a:ext cx="182880" cy="182880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8856" y="4718304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独立闪络案例验证排除式阈值的误报率与漏报率</a:t>
            </a:r>
          </a:p>
        </p:txBody>
      </p:sp>
      <p:sp>
        <p:nvSpPr>
          <p:cNvPr id="45" name="Oval 44"/>
          <p:cNvSpPr/>
          <p:nvPr/>
        </p:nvSpPr>
        <p:spPr>
          <a:xfrm>
            <a:off x="6565392" y="5029200"/>
            <a:ext cx="182880" cy="182880"/>
          </a:xfrm>
          <a:prstGeom prst="ellipse">
            <a:avLst/>
          </a:prstGeom>
          <a:solidFill>
            <a:srgbClr val="7A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8856" y="5010912"/>
            <a:ext cx="4096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每个剪枝比例重验精度、大小、延迟与吞吐后再发布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" y="5724144"/>
            <a:ext cx="11100816" cy="53035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F2D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上线标准：召回与 AP + 模型大小 + 单帧延迟 + 吞吐；不以单一体积或同源指标做结论。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WEB UI &amp; REPORT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Web 巡检界面与报告交付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前端实图后续补入；当前已按最终版式预留主界面、跟踪结果与报告截图位置。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7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353312"/>
            <a:ext cx="6931152" cy="4462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" y="1353312"/>
            <a:ext cx="6931152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" y="1472184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1472184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42416" y="1472184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" y="1938528"/>
            <a:ext cx="1386230" cy="3621024"/>
          </a:xfrm>
          <a:prstGeom prst="roundRect">
            <a:avLst/>
          </a:prstGeom>
          <a:solidFill>
            <a:srgbClr val="07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63140" y="1947672"/>
            <a:ext cx="4851806" cy="493776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63140" y="2633472"/>
            <a:ext cx="4851806" cy="2889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227466"/>
            <a:ext cx="6199632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待替换：前端主界面截图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807561"/>
            <a:ext cx="619963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上传区域 · 实时统计 · 标注媒体 · 六类数量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1353312"/>
            <a:ext cx="39319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99248" y="1353312"/>
            <a:ext cx="3931920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845552" y="1472184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8028431" y="1472184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8211312" y="1472184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1920240"/>
            <a:ext cx="2201875" cy="1298448"/>
          </a:xfrm>
          <a:prstGeom prst="roundRect">
            <a:avLst/>
          </a:prstGeom>
          <a:solidFill>
            <a:srgbClr val="EDF2F6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76357" y="1920240"/>
            <a:ext cx="1179575" cy="438912"/>
          </a:xfrm>
          <a:prstGeom prst="roundRect">
            <a:avLst/>
          </a:prstGeom>
          <a:solidFill>
            <a:srgbClr val="E8F8F8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76357" y="2487168"/>
            <a:ext cx="1179575" cy="438912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2236622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待替换：检测 / 跟踪截图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510028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边界框 · 类别 · 置信度 · Track 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99248" y="3712463"/>
            <a:ext cx="393192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7D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99248" y="3712463"/>
            <a:ext cx="3931920" cy="329184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45552" y="3831335"/>
            <a:ext cx="73152" cy="73152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8028431" y="3831335"/>
            <a:ext cx="73152" cy="73152"/>
          </a:xfrm>
          <a:prstGeom prst="ellipse">
            <a:avLst/>
          </a:prstGeom>
          <a:solidFill>
            <a:srgbClr val="F3A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8211312" y="3831335"/>
            <a:ext cx="73152" cy="73152"/>
          </a:xfrm>
          <a:prstGeom prst="ellipse">
            <a:avLst/>
          </a:prstGeom>
          <a:solidFill>
            <a:srgbClr val="23A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4279392"/>
            <a:ext cx="1651406" cy="1298448"/>
          </a:xfrm>
          <a:prstGeom prst="roundRect">
            <a:avLst/>
          </a:prstGeom>
          <a:solidFill>
            <a:srgbClr val="EAF4FC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43846" y="4279392"/>
            <a:ext cx="1612087" cy="1298448"/>
          </a:xfrm>
          <a:prstGeom prst="roundRect">
            <a:avLst/>
          </a:prstGeom>
          <a:solidFill>
            <a:srgbClr val="EAF7F2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0144" y="4553712"/>
            <a:ext cx="9436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7719" y="4553712"/>
            <a:ext cx="9436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4595774"/>
            <a:ext cx="32004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待替换：JSON / CSV 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4869179"/>
            <a:ext cx="3200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任务信息 · 类别统计 · 逐帧审计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016752"/>
            <a:ext cx="1110081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收到前端图片后仅替换占位图，不改变本页结构与全篇风格。</a:t>
            </a:r>
          </a:p>
        </p:txBody>
      </p:sp>
    </p:spTree>
    <p:extLst>
      <p:ext uri="{BB962C8B-B14F-4D97-AF65-F5344CB8AC3E}">
        <p14:creationId xmlns:p14="http://schemas.microsoft.com/office/powerpoint/2010/main" val="402611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LIMITATIONS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12064"/>
            <a:ext cx="9966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当前边界与下一阶段路线图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工程严谨性不仅是给出能力，更要说明能力如何得到验证、在什么条件下成立。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1712" y="365760"/>
            <a:ext cx="31089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561320" y="164592"/>
            <a:ext cx="320040" cy="7315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164592"/>
            <a:ext cx="347472" cy="118872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228832" y="182880"/>
            <a:ext cx="356616" cy="100584"/>
          </a:xfrm>
          <a:prstGeom prst="line">
            <a:avLst/>
          </a:prstGeom>
          <a:ln w="1905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524744" y="201168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10844784" y="128015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192256" y="246888"/>
            <a:ext cx="73152" cy="73152"/>
          </a:xfrm>
          <a:prstGeom prst="ellipse">
            <a:avLst/>
          </a:prstGeom>
          <a:solidFill>
            <a:srgbClr val="AF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AFC0CE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11548872" y="146304"/>
            <a:ext cx="73152" cy="73152"/>
          </a:xfrm>
          <a:prstGeom prst="ellipse">
            <a:avLst/>
          </a:prstGeom>
          <a:solidFill>
            <a:srgbClr val="147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" y="6565392"/>
            <a:ext cx="11228832" cy="0"/>
          </a:xfrm>
          <a:prstGeom prst="line">
            <a:avLst/>
          </a:prstGeom>
          <a:ln w="10160">
            <a:solidFill>
              <a:srgbClr val="D3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6611112"/>
            <a:ext cx="49377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Doggo · InsuLens Web + ROS 2 绝缘子巡检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611112"/>
            <a:ext cx="68580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0" b="0" i="0">
                <a:solidFill>
                  <a:srgbClr val="63798C"/>
                </a:solidFill>
                <a:latin typeface="宋体"/>
                <a:ea typeface="宋体"/>
                <a:cs typeface="宋体"/>
              </a:rPr>
              <a:t>8 /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1353312"/>
            <a:ext cx="2880360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当前边界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1353312"/>
            <a:ext cx="3337560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可能影响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1353312"/>
            <a:ext cx="4882896" cy="384048"/>
          </a:xfrm>
          <a:prstGeom prst="rect">
            <a:avLst/>
          </a:prstGeom>
          <a:solidFill>
            <a:srgbClr val="071D33"/>
          </a:solidFill>
          <a:ln w="12700">
            <a:solidFill>
              <a:srgbClr val="07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下一阶段改进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173736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真实多类数据尚未齐备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0712" y="173736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broken / crack / pollution 的真实训练覆盖不足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8272" y="1737360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引入授权、可追溯且已标注的数据；按线路、批次或视频片段划分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2395728"/>
            <a:ext cx="28803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flashover 为排除式报告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0712" y="2395728"/>
            <a:ext cx="33375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并非模型训练类，阈值可能带来误报与漏报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8272" y="2395728"/>
            <a:ext cx="4882896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以独立闪络案例验证阈值；保留低置信度与来源标记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05409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五类权重需要严格验收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3054096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类别顺序不符返回 503；现场效果尚未证明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3054096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逐类 AP / Recall / 混淆矩阵，并开展外部现场验证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3712464"/>
            <a:ext cx="28803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已有指标来自同源固定划分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0712" y="3712464"/>
            <a:ext cx="3337560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可能高估跨地区、相机、天气和线路泛化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3712464"/>
            <a:ext cx="4882896" cy="658368"/>
          </a:xfrm>
          <a:prstGeom prst="rect">
            <a:avLst/>
          </a:prstGeom>
          <a:solidFill>
            <a:srgbClr val="F1F6FA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跨线路、跨设备、跨天气测试与现场飞行验收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370831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端侧部署尚未验证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0712" y="4370831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功耗、稳定性、延迟与实际吞吐仍未知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4370831"/>
            <a:ext cx="4882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rm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结构化剪枝 + ONNX / TensorRT / OpenVINO / INT8 压测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248656"/>
            <a:ext cx="11100816" cy="82296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2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546811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F5B5B"/>
                </a:solidFill>
                <a:latin typeface="宋体"/>
                <a:ea typeface="宋体"/>
                <a:cs typeface="宋体"/>
              </a:rPr>
              <a:t>当前定位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376672"/>
            <a:ext cx="940003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2035"/>
                </a:solidFill>
                <a:latin typeface="宋体"/>
                <a:ea typeface="宋体"/>
                <a:cs typeface="宋体"/>
              </a:rPr>
              <a:t>Web 与 ROS 链路、报告和追溯机制可运行；业务上线仍依赖五类真实数据、独立验收集与现场专业复核。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6108192"/>
            <a:ext cx="2011680" cy="310896"/>
          </a:xfrm>
          <a:prstGeom prst="roundRect">
            <a:avLst/>
          </a:prstGeom>
          <a:solidFill>
            <a:srgbClr val="EA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DF"/>
                </a:solidFill>
                <a:latin typeface="宋体"/>
                <a:ea typeface="宋体"/>
                <a:cs typeface="宋体"/>
              </a:rPr>
              <a:t>补齐真实多类数据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06624" y="6108192"/>
            <a:ext cx="1755648" cy="310896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F3A11A"/>
                </a:solidFill>
                <a:latin typeface="宋体"/>
                <a:ea typeface="宋体"/>
                <a:cs typeface="宋体"/>
              </a:rPr>
              <a:t>验证闪络阈值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6864" y="6108192"/>
            <a:ext cx="1755648" cy="310896"/>
          </a:xfrm>
          <a:prstGeom prst="roundRect">
            <a:avLst/>
          </a:prstGeom>
          <a:solidFill>
            <a:srgbClr val="E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23AE86"/>
                </a:solidFill>
                <a:latin typeface="宋体"/>
                <a:ea typeface="宋体"/>
                <a:cs typeface="宋体"/>
              </a:rPr>
              <a:t>完成外部测试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7104" y="6108192"/>
            <a:ext cx="1965960" cy="310896"/>
          </a:xfrm>
          <a:prstGeom prst="round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7A78E8"/>
                </a:solidFill>
                <a:latin typeface="宋体"/>
                <a:ea typeface="宋体"/>
                <a:cs typeface="宋体"/>
              </a:rPr>
              <a:t>端侧优化与压测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7656" y="6108192"/>
            <a:ext cx="1755648" cy="310896"/>
          </a:xfrm>
          <a:prstGeom prst="roundRect">
            <a:avLst/>
          </a:prstGeom>
          <a:solidFill>
            <a:srgbClr val="E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9C6D4"/>
                </a:solidFill>
                <a:latin typeface="宋体"/>
                <a:ea typeface="宋体"/>
                <a:cs typeface="宋体"/>
              </a:rPr>
              <a:t>替换前端实图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9DA1B4"/>
      </a:dk1>
      <a:lt1>
        <a:sysClr val="window" lastClr="2B303B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507</Words>
  <Application>Microsoft Office PowerPoint</Application>
  <PresentationFormat>宽屏</PresentationFormat>
  <Paragraphs>138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Inter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InsuLens Web + ROS 2 绝缘子智能巡检与报告系统</dc:title>
  <dc:subject>基于最新 README 更新的八页项目成果汇报</dc:subject>
  <dc:creator>Doggo Project</dc:creator>
  <cp:keywords>InsuLens, FastAPI, ROS 2, YOLOv10, 绝缘子, 图片巡检, 视频跟踪, JSON, CSV</cp:keywords>
  <dc:description>Metrics and limitations are documented from the local project artifacts.</dc:description>
  <cp:lastModifiedBy>浩天 吴</cp:lastModifiedBy>
  <cp:revision>4</cp:revision>
  <dcterms:created xsi:type="dcterms:W3CDTF">2013-01-27T09:14:16Z</dcterms:created>
  <dcterms:modified xsi:type="dcterms:W3CDTF">2026-07-23T01:46:00Z</dcterms:modified>
  <cp:category/>
</cp:coreProperties>
</file>